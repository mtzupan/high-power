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5"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02"/>
    <p:restoredTop sz="94610"/>
  </p:normalViewPr>
  <p:slideViewPr>
    <p:cSldViewPr snapToGrid="0" snapToObjects="1">
      <p:cViewPr varScale="1">
        <p:scale>
          <a:sx n="126" d="100"/>
          <a:sy n="126" d="100"/>
        </p:scale>
        <p:origin x="192" y="8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63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9CD3-FB07-BD3B-4A5D-21F866AE8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322FC-320D-D920-0F08-A816C0A64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9443E-DA5C-9584-62EA-ED71B4E774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B545D0-179D-F6C8-64E0-D33D813CA44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0707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App Overview &amp; Stack Context</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This slide orients Claude Code. Fill in your details below.</a:t>
            </a:r>
            <a:endParaRPr lang="en-US" sz="1300" dirty="0"/>
          </a:p>
        </p:txBody>
      </p:sp>
      <p:sp>
        <p:nvSpPr>
          <p:cNvPr id="5" name="Shape 2"/>
          <p:cNvSpPr/>
          <p:nvPr/>
        </p:nvSpPr>
        <p:spPr>
          <a:xfrm>
            <a:off x="54864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828800"/>
          </a:xfrm>
          <a:prstGeom prst="rect">
            <a:avLst/>
          </a:prstGeom>
          <a:solidFill>
            <a:srgbClr val="0D9488"/>
          </a:solidFill>
          <a:ln/>
        </p:spPr>
        <p:txBody>
          <a:bodyPr/>
          <a:lstStyle/>
          <a:p>
            <a:endParaRPr lang="en-US"/>
          </a:p>
        </p:txBody>
      </p:sp>
      <p:sp>
        <p:nvSpPr>
          <p:cNvPr id="7" name="Text 4"/>
          <p:cNvSpPr/>
          <p:nvPr/>
        </p:nvSpPr>
        <p:spPr>
          <a:xfrm>
            <a:off x="77724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Tech Stack</a:t>
            </a:r>
            <a:endParaRPr lang="en-US" sz="1600" dirty="0"/>
          </a:p>
        </p:txBody>
      </p:sp>
      <p:sp>
        <p:nvSpPr>
          <p:cNvPr id="8" name="Text 5"/>
          <p:cNvSpPr/>
          <p:nvPr/>
        </p:nvSpPr>
        <p:spPr>
          <a:xfrm>
            <a:off x="777240" y="1920240"/>
            <a:ext cx="3474720" cy="1280160"/>
          </a:xfrm>
          <a:prstGeom prst="rect">
            <a:avLst/>
          </a:prstGeom>
          <a:noFill/>
          <a:ln/>
        </p:spPr>
        <p:txBody>
          <a:bodyPr wrap="square" lIns="0" tIns="0" rIns="0" bIns="0" rtlCol="0" anchor="t"/>
          <a:lstStyle/>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Frontend: </a:t>
            </a:r>
            <a:r>
              <a:rPr lang="en-US" sz="1100" dirty="0" err="1">
                <a:solidFill>
                  <a:srgbClr val="CBD5E1"/>
                </a:solidFill>
                <a:latin typeface="Calibri" pitchFamily="34" charset="0"/>
                <a:ea typeface="Calibri" pitchFamily="34" charset="-122"/>
                <a:cs typeface="Calibri" pitchFamily="34" charset="-120"/>
              </a:rPr>
              <a:t>Next.js</a:t>
            </a:r>
            <a:r>
              <a:rPr lang="en-US" sz="1100" dirty="0">
                <a:solidFill>
                  <a:srgbClr val="CBD5E1"/>
                </a:solidFill>
                <a:latin typeface="Calibri" pitchFamily="34" charset="0"/>
                <a:ea typeface="Calibri" pitchFamily="34" charset="-122"/>
                <a:cs typeface="Calibri" pitchFamily="34" charset="-120"/>
              </a:rPr>
              <a:t> (implemented)</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Backend: </a:t>
            </a:r>
            <a:r>
              <a:rPr lang="en-US" sz="1100" dirty="0">
                <a:solidFill>
                  <a:srgbClr val="CBD5E1"/>
                </a:solidFill>
                <a:latin typeface="Calibri" pitchFamily="34" charset="0"/>
                <a:ea typeface="Calibri" pitchFamily="34" charset="-122"/>
                <a:cs typeface="Calibri" pitchFamily="34" charset="-120"/>
              </a:rPr>
              <a:t>python</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ORM / Migrations: </a:t>
            </a:r>
            <a:r>
              <a:rPr lang="en-US" sz="1100" b="1" dirty="0" err="1">
                <a:solidFill>
                  <a:srgbClr val="CBD5E1"/>
                </a:solidFill>
                <a:latin typeface="Calibri" pitchFamily="34" charset="0"/>
                <a:ea typeface="Calibri" pitchFamily="34" charset="-122"/>
                <a:cs typeface="Calibri" pitchFamily="34" charset="-120"/>
              </a:rPr>
              <a:t>S</a:t>
            </a:r>
            <a:r>
              <a:rPr lang="en-US" sz="1100" dirty="0" err="1">
                <a:solidFill>
                  <a:srgbClr val="CBD5E1"/>
                </a:solidFill>
                <a:latin typeface="Calibri" pitchFamily="34" charset="0"/>
                <a:ea typeface="Calibri" pitchFamily="34" charset="-122"/>
                <a:cs typeface="Calibri" pitchFamily="34" charset="-120"/>
              </a:rPr>
              <a:t>QLAlchemy</a:t>
            </a:r>
            <a:r>
              <a:rPr lang="en-US" sz="1100" dirty="0">
                <a:solidFill>
                  <a:srgbClr val="CBD5E1"/>
                </a:solidFill>
                <a:latin typeface="Calibri" pitchFamily="34" charset="0"/>
                <a:ea typeface="Calibri" pitchFamily="34" charset="-122"/>
                <a:cs typeface="Calibri" pitchFamily="34" charset="-120"/>
              </a:rPr>
              <a:t> + Alembic</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Database: </a:t>
            </a:r>
            <a:r>
              <a:rPr lang="en-US" sz="1100" dirty="0" err="1">
                <a:solidFill>
                  <a:srgbClr val="CBD5E1"/>
                </a:solidFill>
                <a:latin typeface="Calibri" pitchFamily="34" charset="0"/>
                <a:ea typeface="Calibri" pitchFamily="34" charset="-122"/>
                <a:cs typeface="Calibri" pitchFamily="34" charset="-120"/>
              </a:rPr>
              <a:t>SQlite</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Deployment: </a:t>
            </a:r>
            <a:r>
              <a:rPr lang="en-US" sz="1100" dirty="0" err="1">
                <a:solidFill>
                  <a:srgbClr val="CBD5E1"/>
                </a:solidFill>
                <a:latin typeface="Calibri" pitchFamily="34" charset="0"/>
                <a:ea typeface="Calibri" pitchFamily="34" charset="-122"/>
                <a:cs typeface="Calibri" pitchFamily="34" charset="-120"/>
              </a:rPr>
              <a:t>Vercel</a:t>
            </a:r>
            <a:endParaRPr lang="en-US" sz="1100" dirty="0"/>
          </a:p>
        </p:txBody>
      </p:sp>
      <p:sp>
        <p:nvSpPr>
          <p:cNvPr id="9" name="Shape 6"/>
          <p:cNvSpPr/>
          <p:nvPr/>
        </p:nvSpPr>
        <p:spPr>
          <a:xfrm>
            <a:off x="475488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828800"/>
          </a:xfrm>
          <a:prstGeom prst="rect">
            <a:avLst/>
          </a:prstGeom>
          <a:solidFill>
            <a:srgbClr val="0D9488"/>
          </a:solidFill>
          <a:ln/>
        </p:spPr>
        <p:txBody>
          <a:bodyPr/>
          <a:lstStyle/>
          <a:p>
            <a:endParaRPr lang="en-US"/>
          </a:p>
        </p:txBody>
      </p:sp>
      <p:sp>
        <p:nvSpPr>
          <p:cNvPr id="11" name="Text 8"/>
          <p:cNvSpPr/>
          <p:nvPr/>
        </p:nvSpPr>
        <p:spPr>
          <a:xfrm>
            <a:off x="498348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App Summary</a:t>
            </a:r>
            <a:endParaRPr lang="en-US" sz="1600" dirty="0"/>
          </a:p>
        </p:txBody>
      </p:sp>
      <p:sp>
        <p:nvSpPr>
          <p:cNvPr id="12" name="Text 9"/>
          <p:cNvSpPr/>
          <p:nvPr/>
        </p:nvSpPr>
        <p:spPr>
          <a:xfrm>
            <a:off x="4983480" y="1920240"/>
            <a:ext cx="3474720" cy="128016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An app used to explain to engineers &amp; education professionals the ‘why’ and ‘how’ of a potential weeklong education unit. The ‘Stories’ feature contains slideshows on why this program might be good for students &amp; professionals. The ‘Design’ feature shows the interactive tools which compose the subsystems of the windmill fleet.</a:t>
            </a:r>
          </a:p>
        </p:txBody>
      </p:sp>
      <p:sp>
        <p:nvSpPr>
          <p:cNvPr id="13" name="Shape 10"/>
          <p:cNvSpPr/>
          <p:nvPr/>
        </p:nvSpPr>
        <p:spPr>
          <a:xfrm>
            <a:off x="54864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520440"/>
            <a:ext cx="54864" cy="1234440"/>
          </a:xfrm>
          <a:prstGeom prst="rect">
            <a:avLst/>
          </a:prstGeom>
          <a:solidFill>
            <a:srgbClr val="0D9488"/>
          </a:solidFill>
          <a:ln/>
        </p:spPr>
        <p:txBody>
          <a:bodyPr/>
          <a:lstStyle/>
          <a:p>
            <a:endParaRPr lang="en-US"/>
          </a:p>
        </p:txBody>
      </p:sp>
      <p:sp>
        <p:nvSpPr>
          <p:cNvPr id="15" name="Text 12"/>
          <p:cNvSpPr/>
          <p:nvPr/>
        </p:nvSpPr>
        <p:spPr>
          <a:xfrm>
            <a:off x="77724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User Roles / Personas</a:t>
            </a:r>
            <a:endParaRPr lang="en-US" sz="1600" dirty="0"/>
          </a:p>
        </p:txBody>
      </p:sp>
      <p:sp>
        <p:nvSpPr>
          <p:cNvPr id="16" name="Text 13"/>
          <p:cNvSpPr/>
          <p:nvPr/>
        </p:nvSpPr>
        <p:spPr>
          <a:xfrm>
            <a:off x="77724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This app shall be public, no auth or concept of user.</a:t>
            </a:r>
            <a:endParaRPr lang="en-US" sz="1100" dirty="0"/>
          </a:p>
        </p:txBody>
      </p:sp>
      <p:sp>
        <p:nvSpPr>
          <p:cNvPr id="17" name="Shape 14"/>
          <p:cNvSpPr/>
          <p:nvPr/>
        </p:nvSpPr>
        <p:spPr>
          <a:xfrm>
            <a:off x="475488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520440"/>
            <a:ext cx="54864" cy="1234440"/>
          </a:xfrm>
          <a:prstGeom prst="rect">
            <a:avLst/>
          </a:prstGeom>
          <a:solidFill>
            <a:srgbClr val="0D9488"/>
          </a:solidFill>
          <a:ln/>
        </p:spPr>
        <p:txBody>
          <a:bodyPr/>
          <a:lstStyle/>
          <a:p>
            <a:endParaRPr lang="en-US"/>
          </a:p>
        </p:txBody>
      </p:sp>
      <p:sp>
        <p:nvSpPr>
          <p:cNvPr id="19" name="Text 16"/>
          <p:cNvSpPr/>
          <p:nvPr/>
        </p:nvSpPr>
        <p:spPr>
          <a:xfrm>
            <a:off x="498348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Key Decisions Already Made</a:t>
            </a:r>
            <a:endParaRPr lang="en-US" sz="1600" dirty="0"/>
          </a:p>
        </p:txBody>
      </p:sp>
      <p:sp>
        <p:nvSpPr>
          <p:cNvPr id="20" name="Text 17"/>
          <p:cNvSpPr/>
          <p:nvPr/>
        </p:nvSpPr>
        <p:spPr>
          <a:xfrm>
            <a:off x="498348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existing home page and logic should not be overwritten. The HTTP API pattern has been established.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Navigation Map</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Show how screens connect. Replace this with your own diagram or annotate below.</a:t>
            </a:r>
            <a:endParaRPr lang="en-US" sz="1300" dirty="0"/>
          </a:p>
        </p:txBody>
      </p:sp>
      <p:sp>
        <p:nvSpPr>
          <p:cNvPr id="5" name="Shape 2"/>
          <p:cNvSpPr/>
          <p:nvPr/>
        </p:nvSpPr>
        <p:spPr>
          <a:xfrm>
            <a:off x="3657600" y="1463040"/>
            <a:ext cx="1828800" cy="502920"/>
          </a:xfrm>
          <a:prstGeom prst="rect">
            <a:avLst/>
          </a:prstGeom>
          <a:solidFill>
            <a:srgbClr val="0D9488"/>
          </a:solidFill>
          <a:ln/>
        </p:spPr>
        <p:txBody>
          <a:bodyPr/>
          <a:lstStyle/>
          <a:p>
            <a:endParaRPr lang="en-US"/>
          </a:p>
        </p:txBody>
      </p:sp>
      <p:sp>
        <p:nvSpPr>
          <p:cNvPr id="6" name="Text 3"/>
          <p:cNvSpPr/>
          <p:nvPr/>
        </p:nvSpPr>
        <p:spPr>
          <a:xfrm>
            <a:off x="3657600" y="146304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Home  /</a:t>
            </a:r>
            <a:endParaRPr lang="en-US" sz="1300" dirty="0"/>
          </a:p>
        </p:txBody>
      </p:sp>
      <p:sp>
        <p:nvSpPr>
          <p:cNvPr id="7" name="Shape 4"/>
          <p:cNvSpPr/>
          <p:nvPr/>
        </p:nvSpPr>
        <p:spPr>
          <a:xfrm flipH="1">
            <a:off x="3200399" y="1737360"/>
            <a:ext cx="457191" cy="640080"/>
          </a:xfrm>
          <a:prstGeom prst="line">
            <a:avLst/>
          </a:prstGeom>
          <a:noFill/>
          <a:ln w="25400">
            <a:solidFill>
              <a:srgbClr val="CBD5E1"/>
            </a:solidFill>
            <a:prstDash val="solid"/>
          </a:ln>
        </p:spPr>
        <p:txBody>
          <a:bodyPr/>
          <a:lstStyle/>
          <a:p>
            <a:endParaRPr lang="en-US" dirty="0"/>
          </a:p>
        </p:txBody>
      </p:sp>
      <p:sp>
        <p:nvSpPr>
          <p:cNvPr id="8" name="Shape 5"/>
          <p:cNvSpPr/>
          <p:nvPr/>
        </p:nvSpPr>
        <p:spPr>
          <a:xfrm>
            <a:off x="22860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9" name="Text 6"/>
          <p:cNvSpPr/>
          <p:nvPr/>
        </p:nvSpPr>
        <p:spPr>
          <a:xfrm>
            <a:off x="22860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Stories  /stories</a:t>
            </a:r>
            <a:endParaRPr lang="en-US" sz="1200" dirty="0"/>
          </a:p>
        </p:txBody>
      </p:sp>
      <p:sp>
        <p:nvSpPr>
          <p:cNvPr id="10" name="Shape 7"/>
          <p:cNvSpPr/>
          <p:nvPr/>
        </p:nvSpPr>
        <p:spPr>
          <a:xfrm>
            <a:off x="3200400" y="2880360"/>
            <a:ext cx="0" cy="411480"/>
          </a:xfrm>
          <a:prstGeom prst="line">
            <a:avLst/>
          </a:prstGeom>
          <a:noFill/>
          <a:ln w="25400">
            <a:solidFill>
              <a:srgbClr val="CBD5E1"/>
            </a:solidFill>
            <a:prstDash val="solid"/>
          </a:ln>
        </p:spPr>
        <p:txBody>
          <a:bodyPr/>
          <a:lstStyle/>
          <a:p>
            <a:endParaRPr lang="en-US"/>
          </a:p>
        </p:txBody>
      </p:sp>
      <p:sp>
        <p:nvSpPr>
          <p:cNvPr id="11" name="Shape 8"/>
          <p:cNvSpPr/>
          <p:nvPr/>
        </p:nvSpPr>
        <p:spPr>
          <a:xfrm>
            <a:off x="2011680" y="3291840"/>
            <a:ext cx="2377440" cy="502920"/>
          </a:xfrm>
          <a:prstGeom prst="rect">
            <a:avLst/>
          </a:prstGeom>
          <a:solidFill>
            <a:srgbClr val="334155"/>
          </a:solidFill>
          <a:ln w="19050">
            <a:solidFill>
              <a:srgbClr val="0D9488"/>
            </a:solidFill>
            <a:prstDash val="solid"/>
          </a:ln>
        </p:spPr>
        <p:txBody>
          <a:bodyPr/>
          <a:lstStyle/>
          <a:p>
            <a:endParaRPr lang="en-US"/>
          </a:p>
        </p:txBody>
      </p:sp>
      <p:sp>
        <p:nvSpPr>
          <p:cNvPr id="12" name="Text 9"/>
          <p:cNvSpPr/>
          <p:nvPr/>
        </p:nvSpPr>
        <p:spPr>
          <a:xfrm>
            <a:off x="2011680" y="3291840"/>
            <a:ext cx="237744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Individual Story  /stories/:id</a:t>
            </a:r>
            <a:endParaRPr lang="en-US" sz="1100" dirty="0"/>
          </a:p>
        </p:txBody>
      </p:sp>
      <p:sp>
        <p:nvSpPr>
          <p:cNvPr id="13" name="Shape 10"/>
          <p:cNvSpPr/>
          <p:nvPr/>
        </p:nvSpPr>
        <p:spPr>
          <a:xfrm>
            <a:off x="5486400" y="1737360"/>
            <a:ext cx="457200" cy="640080"/>
          </a:xfrm>
          <a:prstGeom prst="line">
            <a:avLst/>
          </a:prstGeom>
          <a:noFill/>
          <a:ln w="25400">
            <a:solidFill>
              <a:srgbClr val="CBD5E1"/>
            </a:solidFill>
            <a:prstDash val="solid"/>
          </a:ln>
        </p:spPr>
        <p:txBody>
          <a:bodyPr/>
          <a:lstStyle/>
          <a:p>
            <a:endParaRPr lang="en-US"/>
          </a:p>
        </p:txBody>
      </p:sp>
      <p:sp>
        <p:nvSpPr>
          <p:cNvPr id="14" name="Shape 11"/>
          <p:cNvSpPr/>
          <p:nvPr/>
        </p:nvSpPr>
        <p:spPr>
          <a:xfrm>
            <a:off x="50292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15" name="Text 12"/>
          <p:cNvSpPr/>
          <p:nvPr/>
        </p:nvSpPr>
        <p:spPr>
          <a:xfrm>
            <a:off x="50292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Design  /design</a:t>
            </a:r>
            <a:endParaRPr lang="en-US" sz="1200" dirty="0"/>
          </a:p>
        </p:txBody>
      </p:sp>
      <p:sp>
        <p:nvSpPr>
          <p:cNvPr id="16" name="Shape 13"/>
          <p:cNvSpPr/>
          <p:nvPr/>
        </p:nvSpPr>
        <p:spPr>
          <a:xfrm>
            <a:off x="5943600" y="2880360"/>
            <a:ext cx="0" cy="411480"/>
          </a:xfrm>
          <a:prstGeom prst="line">
            <a:avLst/>
          </a:prstGeom>
          <a:noFill/>
          <a:ln w="25400">
            <a:solidFill>
              <a:srgbClr val="CBD5E1"/>
            </a:solidFill>
            <a:prstDash val="solid"/>
          </a:ln>
        </p:spPr>
        <p:txBody>
          <a:bodyPr/>
          <a:lstStyle/>
          <a:p>
            <a:endParaRPr lang="en-US"/>
          </a:p>
        </p:txBody>
      </p:sp>
      <p:sp>
        <p:nvSpPr>
          <p:cNvPr id="17" name="Shape 14"/>
          <p:cNvSpPr/>
          <p:nvPr/>
        </p:nvSpPr>
        <p:spPr>
          <a:xfrm>
            <a:off x="4572000" y="3291840"/>
            <a:ext cx="2743200" cy="502920"/>
          </a:xfrm>
          <a:prstGeom prst="rect">
            <a:avLst/>
          </a:prstGeom>
          <a:solidFill>
            <a:srgbClr val="334155"/>
          </a:solidFill>
          <a:ln w="19050">
            <a:solidFill>
              <a:srgbClr val="0D9488"/>
            </a:solidFill>
            <a:prstDash val="solid"/>
          </a:ln>
        </p:spPr>
        <p:txBody>
          <a:bodyPr/>
          <a:lstStyle/>
          <a:p>
            <a:endParaRPr lang="en-US"/>
          </a:p>
        </p:txBody>
      </p:sp>
      <p:sp>
        <p:nvSpPr>
          <p:cNvPr id="18" name="Text 15"/>
          <p:cNvSpPr/>
          <p:nvPr/>
        </p:nvSpPr>
        <p:spPr>
          <a:xfrm>
            <a:off x="4572000" y="3291840"/>
            <a:ext cx="274320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Overview  /design/:id</a:t>
            </a:r>
            <a:endParaRPr lang="en-US" sz="1100" dirty="0"/>
          </a:p>
        </p:txBody>
      </p:sp>
      <p:sp>
        <p:nvSpPr>
          <p:cNvPr id="19" name="Shape 16"/>
          <p:cNvSpPr/>
          <p:nvPr/>
        </p:nvSpPr>
        <p:spPr>
          <a:xfrm>
            <a:off x="5943600" y="3794760"/>
            <a:ext cx="0" cy="411480"/>
          </a:xfrm>
          <a:prstGeom prst="line">
            <a:avLst/>
          </a:prstGeom>
          <a:noFill/>
          <a:ln w="25400">
            <a:solidFill>
              <a:srgbClr val="CBD5E1"/>
            </a:solidFill>
            <a:prstDash val="solid"/>
          </a:ln>
        </p:spPr>
        <p:txBody>
          <a:bodyPr/>
          <a:lstStyle/>
          <a:p>
            <a:endParaRPr lang="en-US"/>
          </a:p>
        </p:txBody>
      </p:sp>
      <p:sp>
        <p:nvSpPr>
          <p:cNvPr id="20" name="Shape 17"/>
          <p:cNvSpPr/>
          <p:nvPr/>
        </p:nvSpPr>
        <p:spPr>
          <a:xfrm>
            <a:off x="4389120" y="4206240"/>
            <a:ext cx="3108960" cy="502920"/>
          </a:xfrm>
          <a:prstGeom prst="rect">
            <a:avLst/>
          </a:prstGeom>
          <a:solidFill>
            <a:srgbClr val="334155"/>
          </a:solidFill>
          <a:ln w="19050">
            <a:solidFill>
              <a:srgbClr val="0D9488"/>
            </a:solidFill>
            <a:prstDash val="solid"/>
          </a:ln>
        </p:spPr>
        <p:txBody>
          <a:bodyPr/>
          <a:lstStyle/>
          <a:p>
            <a:endParaRPr lang="en-US"/>
          </a:p>
        </p:txBody>
      </p:sp>
      <p:sp>
        <p:nvSpPr>
          <p:cNvPr id="21" name="Text 18"/>
          <p:cNvSpPr/>
          <p:nvPr/>
        </p:nvSpPr>
        <p:spPr>
          <a:xfrm>
            <a:off x="4389120" y="4206240"/>
            <a:ext cx="310896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Detail  /design/:id/detail</a:t>
            </a:r>
            <a:endParaRPr lang="en-US" sz="1100" dirty="0"/>
          </a:p>
        </p:txBody>
      </p:sp>
      <p:sp>
        <p:nvSpPr>
          <p:cNvPr id="22" name="Text 19"/>
          <p:cNvSpPr/>
          <p:nvPr/>
        </p:nvSpPr>
        <p:spPr>
          <a:xfrm>
            <a:off x="548641" y="4617720"/>
            <a:ext cx="2224540" cy="365760"/>
          </a:xfrm>
          <a:prstGeom prst="rect">
            <a:avLst/>
          </a:prstGeom>
          <a:noFill/>
          <a:ln/>
        </p:spPr>
        <p:txBody>
          <a:bodyPr wrap="square" lIns="0" tIns="0" rIns="0" bIns="0"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All of the lines represent two-way flows.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Home (Landing Page)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1</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changes the speed of the wind. The interactions &amp; logic are already built in the page, in </a:t>
            </a:r>
            <a:r>
              <a:rPr lang="en-US" sz="900" i="1" dirty="0" err="1">
                <a:solidFill>
                  <a:srgbClr val="CBD5E1"/>
                </a:solidFill>
                <a:latin typeface="Calibri" pitchFamily="34" charset="0"/>
                <a:ea typeface="Calibri" pitchFamily="34" charset="-122"/>
                <a:cs typeface="Calibri" pitchFamily="34" charset="-120"/>
              </a:rPr>
              <a:t>page.tsx</a:t>
            </a:r>
            <a:r>
              <a:rPr lang="en-US" sz="900" i="1" dirty="0">
                <a:solidFill>
                  <a:srgbClr val="CBD5E1"/>
                </a:solidFill>
                <a:latin typeface="Calibri" pitchFamily="34" charset="0"/>
                <a:ea typeface="Calibri" pitchFamily="34" charset="-122"/>
                <a:cs typeface="Calibri" pitchFamily="34" charset="-120"/>
              </a:rPr>
              <a:t>.</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Users adjust a sliding bar at the bottom of the screen (not pictured, exists on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The data shown is already implemented in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 loading. There are background illustrations. No concept of state necessary.</a:t>
            </a:r>
            <a:endParaRPr lang="en-US" sz="900" dirty="0"/>
          </a:p>
        </p:txBody>
      </p:sp>
      <p:sp>
        <p:nvSpPr>
          <p:cNvPr id="27" name="Rounded Rectangle 26">
            <a:extLst>
              <a:ext uri="{FF2B5EF4-FFF2-40B4-BE49-F238E27FC236}">
                <a16:creationId xmlns:a16="http://schemas.microsoft.com/office/drawing/2014/main" id="{10BDF5E0-2ABB-03C6-CC62-32D5AC9320F4}"/>
              </a:ext>
            </a:extLst>
          </p:cNvPr>
          <p:cNvSpPr/>
          <p:nvPr/>
        </p:nvSpPr>
        <p:spPr>
          <a:xfrm>
            <a:off x="6139372"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28" name="Rounded Rectangle 27">
            <a:extLst>
              <a:ext uri="{FF2B5EF4-FFF2-40B4-BE49-F238E27FC236}">
                <a16:creationId xmlns:a16="http://schemas.microsoft.com/office/drawing/2014/main" id="{6338E975-DEFC-AB6F-B95A-39E4072D0ECC}"/>
              </a:ext>
            </a:extLst>
          </p:cNvPr>
          <p:cNvSpPr/>
          <p:nvPr/>
        </p:nvSpPr>
        <p:spPr>
          <a:xfrm>
            <a:off x="6139372"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
        <p:nvSpPr>
          <p:cNvPr id="31" name="Rounded Rectangle 30">
            <a:extLst>
              <a:ext uri="{FF2B5EF4-FFF2-40B4-BE49-F238E27FC236}">
                <a16:creationId xmlns:a16="http://schemas.microsoft.com/office/drawing/2014/main" id="{53595D5D-3BB2-C012-FB08-EF6F90E46119}"/>
              </a:ext>
            </a:extLst>
          </p:cNvPr>
          <p:cNvSpPr/>
          <p:nvPr/>
        </p:nvSpPr>
        <p:spPr>
          <a:xfrm>
            <a:off x="646526"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32" name="Rounded Rectangle 31">
            <a:extLst>
              <a:ext uri="{FF2B5EF4-FFF2-40B4-BE49-F238E27FC236}">
                <a16:creationId xmlns:a16="http://schemas.microsoft.com/office/drawing/2014/main" id="{3EA4A276-A0BD-1F4B-8E20-8B6382A7F5F0}"/>
              </a:ext>
            </a:extLst>
          </p:cNvPr>
          <p:cNvSpPr/>
          <p:nvPr/>
        </p:nvSpPr>
        <p:spPr>
          <a:xfrm>
            <a:off x="646526"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Stories</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2</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(/stories/:id)</a:t>
            </a:r>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
        <p:nvSpPr>
          <p:cNvPr id="27" name="Rounded Rectangle 26">
            <a:extLst>
              <a:ext uri="{FF2B5EF4-FFF2-40B4-BE49-F238E27FC236}">
                <a16:creationId xmlns:a16="http://schemas.microsoft.com/office/drawing/2014/main" id="{3BE73954-A1CD-483A-ECF1-F6C0051648B6}"/>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28" name="Rounded Rectangle 27">
            <a:extLst>
              <a:ext uri="{FF2B5EF4-FFF2-40B4-BE49-F238E27FC236}">
                <a16:creationId xmlns:a16="http://schemas.microsoft.com/office/drawing/2014/main" id="{59F5F0C4-C7C7-A421-22DA-B0149DA30DF9}"/>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
        <p:nvSpPr>
          <p:cNvPr id="29" name="Rounded Rectangle 28">
            <a:extLst>
              <a:ext uri="{FF2B5EF4-FFF2-40B4-BE49-F238E27FC236}">
                <a16:creationId xmlns:a16="http://schemas.microsoft.com/office/drawing/2014/main" id="{9F101323-F342-67AC-7190-3226043663A2}"/>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30" name="Rounded Rectangle 29">
            <a:extLst>
              <a:ext uri="{FF2B5EF4-FFF2-40B4-BE49-F238E27FC236}">
                <a16:creationId xmlns:a16="http://schemas.microsoft.com/office/drawing/2014/main" id="{9081DDD9-0D8A-66BA-B9C8-80D9DDE990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Individual Story (Template)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/stories/:id</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3</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This page mimics Instagram story functionality. The number of bars at the top, correspond to the number of slides in this story. A slide is the unique combination of top text, bottom text, and image.</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Top text moves left to right, slowly. Bottom text moves right to left. Slow zoom in on whatever image is shown. Click (tap) advances slides. Click (tap) and hold stops the slide. Each slide has 6 seconds. </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Each slide has its unique top text, bottom text, and image.</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page will need to know which slide is currently showing, so it can go forward &amp; back from that slide.</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When the slideshow ends, go ‘back’ to the Stories page.</a:t>
            </a:r>
            <a:endParaRPr lang="en-US" sz="900" dirty="0"/>
          </a:p>
        </p:txBody>
      </p:sp>
      <p:cxnSp>
        <p:nvCxnSpPr>
          <p:cNvPr id="28" name="Straight Connector 27">
            <a:extLst>
              <a:ext uri="{FF2B5EF4-FFF2-40B4-BE49-F238E27FC236}">
                <a16:creationId xmlns:a16="http://schemas.microsoft.com/office/drawing/2014/main" id="{069739AC-10B3-C8A2-C385-D1EB025BE240}"/>
              </a:ext>
            </a:extLst>
          </p:cNvPr>
          <p:cNvCxnSpPr>
            <a:cxnSpLocks/>
          </p:cNvCxnSpPr>
          <p:nvPr/>
        </p:nvCxnSpPr>
        <p:spPr>
          <a:xfrm>
            <a:off x="753533"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F459AF-7F2C-73C4-3781-4EBE674083EE}"/>
              </a:ext>
            </a:extLst>
          </p:cNvPr>
          <p:cNvCxnSpPr>
            <a:cxnSpLocks/>
          </p:cNvCxnSpPr>
          <p:nvPr/>
        </p:nvCxnSpPr>
        <p:spPr>
          <a:xfrm>
            <a:off x="2026581"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3978856-2B07-45F9-5394-B10C56DBF92F}"/>
              </a:ext>
            </a:extLst>
          </p:cNvPr>
          <p:cNvCxnSpPr>
            <a:cxnSpLocks/>
          </p:cNvCxnSpPr>
          <p:nvPr/>
        </p:nvCxnSpPr>
        <p:spPr>
          <a:xfrm>
            <a:off x="3298952"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EBB489-C5C3-2506-37E6-9CA5BD8AB1D7}"/>
              </a:ext>
            </a:extLst>
          </p:cNvPr>
          <p:cNvCxnSpPr>
            <a:cxnSpLocks/>
          </p:cNvCxnSpPr>
          <p:nvPr/>
        </p:nvCxnSpPr>
        <p:spPr>
          <a:xfrm>
            <a:off x="4572000"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87868B-A3E7-598D-6216-0E92C5F39B6E}"/>
              </a:ext>
            </a:extLst>
          </p:cNvPr>
          <p:cNvCxnSpPr>
            <a:cxnSpLocks/>
          </p:cNvCxnSpPr>
          <p:nvPr/>
        </p:nvCxnSpPr>
        <p:spPr>
          <a:xfrm>
            <a:off x="6119029" y="1354667"/>
            <a:ext cx="47379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C7BF20-D780-128A-F5A2-0A82D4BB9430}"/>
              </a:ext>
            </a:extLst>
          </p:cNvPr>
          <p:cNvCxnSpPr>
            <a:cxnSpLocks/>
          </p:cNvCxnSpPr>
          <p:nvPr/>
        </p:nvCxnSpPr>
        <p:spPr>
          <a:xfrm>
            <a:off x="67482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38B98E2-DBBB-E17A-AF1A-CF9687F18EAC}"/>
              </a:ext>
            </a:extLst>
          </p:cNvPr>
          <p:cNvCxnSpPr>
            <a:cxnSpLocks/>
          </p:cNvCxnSpPr>
          <p:nvPr/>
        </p:nvCxnSpPr>
        <p:spPr>
          <a:xfrm>
            <a:off x="74086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85405E7-DDF4-02A6-6F29-940100B1D40A}"/>
              </a:ext>
            </a:extLst>
          </p:cNvPr>
          <p:cNvCxnSpPr>
            <a:cxnSpLocks/>
          </p:cNvCxnSpPr>
          <p:nvPr/>
        </p:nvCxnSpPr>
        <p:spPr>
          <a:xfrm>
            <a:off x="8035205"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9211C37-1C29-37C3-588A-060852D87D2F}"/>
              </a:ext>
            </a:extLst>
          </p:cNvPr>
          <p:cNvSpPr txBox="1"/>
          <p:nvPr/>
        </p:nvSpPr>
        <p:spPr>
          <a:xfrm>
            <a:off x="1143000" y="1670888"/>
            <a:ext cx="1337733" cy="369332"/>
          </a:xfrm>
          <a:prstGeom prst="rect">
            <a:avLst/>
          </a:prstGeom>
          <a:noFill/>
        </p:spPr>
        <p:txBody>
          <a:bodyPr wrap="square" rtlCol="0">
            <a:spAutoFit/>
          </a:bodyPr>
          <a:lstStyle/>
          <a:p>
            <a:r>
              <a:rPr lang="en-US" dirty="0"/>
              <a:t>Top text</a:t>
            </a:r>
          </a:p>
        </p:txBody>
      </p:sp>
      <p:sp>
        <p:nvSpPr>
          <p:cNvPr id="59" name="TextBox 58">
            <a:extLst>
              <a:ext uri="{FF2B5EF4-FFF2-40B4-BE49-F238E27FC236}">
                <a16:creationId xmlns:a16="http://schemas.microsoft.com/office/drawing/2014/main" id="{5FD9FC8F-8793-25E0-6F7F-34F807157A10}"/>
              </a:ext>
            </a:extLst>
          </p:cNvPr>
          <p:cNvSpPr txBox="1"/>
          <p:nvPr/>
        </p:nvSpPr>
        <p:spPr>
          <a:xfrm>
            <a:off x="4191000" y="2938763"/>
            <a:ext cx="1437132" cy="369332"/>
          </a:xfrm>
          <a:prstGeom prst="rect">
            <a:avLst/>
          </a:prstGeom>
          <a:noFill/>
        </p:spPr>
        <p:txBody>
          <a:bodyPr wrap="square" rtlCol="0">
            <a:spAutoFit/>
          </a:bodyPr>
          <a:lstStyle/>
          <a:p>
            <a:r>
              <a:rPr lang="en-US" dirty="0"/>
              <a:t>Bottom text</a:t>
            </a:r>
          </a:p>
        </p:txBody>
      </p:sp>
      <p:sp>
        <p:nvSpPr>
          <p:cNvPr id="60" name="TextBox 59">
            <a:extLst>
              <a:ext uri="{FF2B5EF4-FFF2-40B4-BE49-F238E27FC236}">
                <a16:creationId xmlns:a16="http://schemas.microsoft.com/office/drawing/2014/main" id="{23121E05-BE5A-0340-FEDD-1959063FC4BB}"/>
              </a:ext>
            </a:extLst>
          </p:cNvPr>
          <p:cNvSpPr txBox="1"/>
          <p:nvPr/>
        </p:nvSpPr>
        <p:spPr>
          <a:xfrm>
            <a:off x="6061117" y="1670888"/>
            <a:ext cx="1337733" cy="369332"/>
          </a:xfrm>
          <a:prstGeom prst="rect">
            <a:avLst/>
          </a:prstGeom>
          <a:noFill/>
        </p:spPr>
        <p:txBody>
          <a:bodyPr wrap="square" rtlCol="0">
            <a:spAutoFit/>
          </a:bodyPr>
          <a:lstStyle/>
          <a:p>
            <a:r>
              <a:rPr lang="en-US" dirty="0"/>
              <a:t>Top text</a:t>
            </a:r>
          </a:p>
        </p:txBody>
      </p:sp>
      <p:sp>
        <p:nvSpPr>
          <p:cNvPr id="61" name="TextBox 60">
            <a:extLst>
              <a:ext uri="{FF2B5EF4-FFF2-40B4-BE49-F238E27FC236}">
                <a16:creationId xmlns:a16="http://schemas.microsoft.com/office/drawing/2014/main" id="{60CBBC6F-FCDD-D4C5-B31B-38463637DF98}"/>
              </a:ext>
            </a:extLst>
          </p:cNvPr>
          <p:cNvSpPr txBox="1"/>
          <p:nvPr/>
        </p:nvSpPr>
        <p:spPr>
          <a:xfrm>
            <a:off x="7354486" y="2938763"/>
            <a:ext cx="1437132" cy="369332"/>
          </a:xfrm>
          <a:prstGeom prst="rect">
            <a:avLst/>
          </a:prstGeom>
          <a:noFill/>
        </p:spPr>
        <p:txBody>
          <a:bodyPr wrap="square" rtlCol="0">
            <a:spAutoFit/>
          </a:bodyPr>
          <a:lstStyle/>
          <a:p>
            <a:r>
              <a:rPr lang="en-US" dirty="0"/>
              <a:t>Bottom text</a:t>
            </a:r>
          </a:p>
        </p:txBody>
      </p:sp>
      <p:pic>
        <p:nvPicPr>
          <p:cNvPr id="63" name="Graphic 62" descr="Airplane with solid fill">
            <a:extLst>
              <a:ext uri="{FF2B5EF4-FFF2-40B4-BE49-F238E27FC236}">
                <a16:creationId xmlns:a16="http://schemas.microsoft.com/office/drawing/2014/main" id="{9E5F20E7-41B3-20F1-C27A-45D732EC02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1760" y="2011680"/>
            <a:ext cx="914400" cy="914400"/>
          </a:xfrm>
          <a:prstGeom prst="rect">
            <a:avLst/>
          </a:prstGeom>
        </p:spPr>
      </p:pic>
      <p:pic>
        <p:nvPicPr>
          <p:cNvPr id="64" name="Graphic 63" descr="Airplane with solid fill">
            <a:extLst>
              <a:ext uri="{FF2B5EF4-FFF2-40B4-BE49-F238E27FC236}">
                <a16:creationId xmlns:a16="http://schemas.microsoft.com/office/drawing/2014/main" id="{1975027B-D27E-4D5D-B923-14DA3A76C6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18376" y="202117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Design</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4</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63" name="Rounded Rectangle 62">
            <a:extLst>
              <a:ext uri="{FF2B5EF4-FFF2-40B4-BE49-F238E27FC236}">
                <a16:creationId xmlns:a16="http://schemas.microsoft.com/office/drawing/2014/main" id="{6A02A8A4-1807-1E8E-01B1-76BA21708738}"/>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4" name="Rounded Rectangle 1023">
            <a:extLst>
              <a:ext uri="{FF2B5EF4-FFF2-40B4-BE49-F238E27FC236}">
                <a16:creationId xmlns:a16="http://schemas.microsoft.com/office/drawing/2014/main" id="{ABCAD5C3-88EE-9811-1BE5-17962AABC69C}"/>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25" name="Rounded Rectangle 1024">
            <a:extLst>
              <a:ext uri="{FF2B5EF4-FFF2-40B4-BE49-F238E27FC236}">
                <a16:creationId xmlns:a16="http://schemas.microsoft.com/office/drawing/2014/main" id="{5F54B43D-2345-062F-8879-FC332CEBCCD4}"/>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7" name="Rounded Rectangle 1026">
            <a:extLst>
              <a:ext uri="{FF2B5EF4-FFF2-40B4-BE49-F238E27FC236}">
                <a16:creationId xmlns:a16="http://schemas.microsoft.com/office/drawing/2014/main" id="{D5C69F79-15EB-690A-0120-0857B65239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32" name="Text 11">
            <a:extLst>
              <a:ext uri="{FF2B5EF4-FFF2-40B4-BE49-F238E27FC236}">
                <a16:creationId xmlns:a16="http://schemas.microsoft.com/office/drawing/2014/main" id="{93F8AE5B-86D6-3065-14F8-E5735E307BC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033" name="Text 15">
            <a:extLst>
              <a:ext uri="{FF2B5EF4-FFF2-40B4-BE49-F238E27FC236}">
                <a16:creationId xmlns:a16="http://schemas.microsoft.com/office/drawing/2014/main" id="{2DBED1A9-9538-0E9B-12E1-78800B34BC6B}"/>
              </a:ext>
            </a:extLst>
          </p:cNvPr>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(/design/:</a:t>
            </a:r>
            <a:r>
              <a:rPr lang="en-US" sz="900" i="1" dirty="0" err="1">
                <a:solidFill>
                  <a:srgbClr val="CBD5E1"/>
                </a:solidFill>
                <a:latin typeface="Calibri" pitchFamily="34" charset="0"/>
                <a:cs typeface="Calibri" pitchFamily="34" charset="-120"/>
              </a:rPr>
              <a:t>subsystemId</a:t>
            </a:r>
            <a:r>
              <a:rPr lang="en-US" sz="900" i="1" dirty="0">
                <a:solidFill>
                  <a:srgbClr val="CBD5E1"/>
                </a:solidFill>
                <a:latin typeface="Calibri" pitchFamily="34" charset="0"/>
                <a:cs typeface="Calibri" pitchFamily="34" charset="-120"/>
              </a:rPr>
              <a:t>)</a:t>
            </a:r>
          </a:p>
        </p:txBody>
      </p:sp>
      <p:sp>
        <p:nvSpPr>
          <p:cNvPr id="1034" name="Text 19">
            <a:extLst>
              <a:ext uri="{FF2B5EF4-FFF2-40B4-BE49-F238E27FC236}">
                <a16:creationId xmlns:a16="http://schemas.microsoft.com/office/drawing/2014/main" id="{2992FE63-18C1-DCE8-8923-5EFD82BA3C23}"/>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1035" name="Text 23">
            <a:extLst>
              <a:ext uri="{FF2B5EF4-FFF2-40B4-BE49-F238E27FC236}">
                <a16:creationId xmlns:a16="http://schemas.microsoft.com/office/drawing/2014/main" id="{7091A094-1505-8E0D-E32E-360FBE0677D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E0F3-0E13-7E78-59AF-CDFBA5719F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BC1349-1D2B-F2F9-BD5A-87C8148BFD19}"/>
              </a:ext>
            </a:extLst>
          </p:cNvPr>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a:extLst>
              <a:ext uri="{FF2B5EF4-FFF2-40B4-BE49-F238E27FC236}">
                <a16:creationId xmlns:a16="http://schemas.microsoft.com/office/drawing/2014/main" id="{AD8C59CB-E52D-75BF-9C8A-B572C1446BC8}"/>
              </a:ext>
            </a:extLst>
          </p:cNvPr>
          <p:cNvPicPr>
            <a:picLocks noChangeAspect="1"/>
          </p:cNvPicPr>
          <p:nvPr/>
        </p:nvPicPr>
        <p:blipFill>
          <a:blip r:embed="rId3"/>
          <a:stretch>
            <a:fillRect/>
          </a:stretch>
        </p:blipFill>
        <p:spPr>
          <a:xfrm>
            <a:off x="457200" y="164592"/>
            <a:ext cx="365760" cy="365760"/>
          </a:xfrm>
          <a:prstGeom prst="rect">
            <a:avLst/>
          </a:prstGeom>
        </p:spPr>
      </p:pic>
      <p:sp>
        <p:nvSpPr>
          <p:cNvPr id="7" name="Shape 4">
            <a:extLst>
              <a:ext uri="{FF2B5EF4-FFF2-40B4-BE49-F238E27FC236}">
                <a16:creationId xmlns:a16="http://schemas.microsoft.com/office/drawing/2014/main" id="{BEF498C4-A61A-3601-A07B-F8012950F9BB}"/>
              </a:ext>
            </a:extLst>
          </p:cNvPr>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a:extLst>
              <a:ext uri="{FF2B5EF4-FFF2-40B4-BE49-F238E27FC236}">
                <a16:creationId xmlns:a16="http://schemas.microsoft.com/office/drawing/2014/main" id="{569D9BCA-0C49-80B8-0A87-DC12EEA2915C}"/>
              </a:ext>
            </a:extLst>
          </p:cNvPr>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a:extLst>
              <a:ext uri="{FF2B5EF4-FFF2-40B4-BE49-F238E27FC236}">
                <a16:creationId xmlns:a16="http://schemas.microsoft.com/office/drawing/2014/main" id="{C227C1DA-55B5-6804-BB13-FD6267FEFF76}"/>
              </a:ext>
            </a:extLst>
          </p:cNvPr>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a:extLst>
              <a:ext uri="{FF2B5EF4-FFF2-40B4-BE49-F238E27FC236}">
                <a16:creationId xmlns:a16="http://schemas.microsoft.com/office/drawing/2014/main" id="{4BDA89A6-5DDA-1B93-A98F-39A03A84C688}"/>
              </a:ext>
            </a:extLst>
          </p:cNvPr>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a:extLst>
              <a:ext uri="{FF2B5EF4-FFF2-40B4-BE49-F238E27FC236}">
                <a16:creationId xmlns:a16="http://schemas.microsoft.com/office/drawing/2014/main" id="{646ABCAB-4E7C-0E9E-DFCA-FE405EF2F434}"/>
              </a:ext>
            </a:extLst>
          </p:cNvPr>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a:extLst>
              <a:ext uri="{FF2B5EF4-FFF2-40B4-BE49-F238E27FC236}">
                <a16:creationId xmlns:a16="http://schemas.microsoft.com/office/drawing/2014/main" id="{9D07E1D9-F3D0-44A2-47E2-506B56F9B4E0}"/>
              </a:ext>
            </a:extLst>
          </p:cNvPr>
          <p:cNvSpPr/>
          <p:nvPr/>
        </p:nvSpPr>
        <p:spPr>
          <a:xfrm>
            <a:off x="457200" y="3840480"/>
            <a:ext cx="36576" cy="1097280"/>
          </a:xfrm>
          <a:prstGeom prst="rect">
            <a:avLst/>
          </a:prstGeom>
          <a:solidFill>
            <a:srgbClr val="0D9488"/>
          </a:solidFill>
          <a:ln/>
        </p:spPr>
        <p:txBody>
          <a:bodyPr/>
          <a:lstStyle/>
          <a:p>
            <a:endParaRPr lang="en-US"/>
          </a:p>
        </p:txBody>
      </p:sp>
      <p:sp>
        <p:nvSpPr>
          <p:cNvPr id="13" name="Text 10">
            <a:extLst>
              <a:ext uri="{FF2B5EF4-FFF2-40B4-BE49-F238E27FC236}">
                <a16:creationId xmlns:a16="http://schemas.microsoft.com/office/drawing/2014/main" id="{2B83AA78-C722-7A0E-2EEA-4A7E3AF3BAE9}"/>
              </a:ext>
            </a:extLst>
          </p:cNvPr>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a:extLst>
              <a:ext uri="{FF2B5EF4-FFF2-40B4-BE49-F238E27FC236}">
                <a16:creationId xmlns:a16="http://schemas.microsoft.com/office/drawing/2014/main" id="{A8E0E6EE-FE2E-420D-5B1E-E7D989CFD00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inputs the number of blades and uses the slider to control the animation of blades &amp; the dotted line on the chart to the right. Calculated values are output to the yellow boxes.</a:t>
            </a:r>
            <a:endParaRPr lang="en-US" sz="900" dirty="0"/>
          </a:p>
        </p:txBody>
      </p:sp>
      <p:sp>
        <p:nvSpPr>
          <p:cNvPr id="15" name="Shape 12">
            <a:extLst>
              <a:ext uri="{FF2B5EF4-FFF2-40B4-BE49-F238E27FC236}">
                <a16:creationId xmlns:a16="http://schemas.microsoft.com/office/drawing/2014/main" id="{D413518D-A574-2A59-55C0-9EFED36446C5}"/>
              </a:ext>
            </a:extLst>
          </p:cNvPr>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a:extLst>
              <a:ext uri="{FF2B5EF4-FFF2-40B4-BE49-F238E27FC236}">
                <a16:creationId xmlns:a16="http://schemas.microsoft.com/office/drawing/2014/main" id="{030217BD-607C-4892-FE64-B6F34446BD95}"/>
              </a:ext>
            </a:extLst>
          </p:cNvPr>
          <p:cNvSpPr/>
          <p:nvPr/>
        </p:nvSpPr>
        <p:spPr>
          <a:xfrm>
            <a:off x="2542032" y="3840480"/>
            <a:ext cx="36576" cy="1097280"/>
          </a:xfrm>
          <a:prstGeom prst="rect">
            <a:avLst/>
          </a:prstGeom>
          <a:solidFill>
            <a:srgbClr val="0D9488"/>
          </a:solidFill>
          <a:ln/>
        </p:spPr>
        <p:txBody>
          <a:bodyPr/>
          <a:lstStyle/>
          <a:p>
            <a:endParaRPr lang="en-US"/>
          </a:p>
        </p:txBody>
      </p:sp>
      <p:sp>
        <p:nvSpPr>
          <p:cNvPr id="17" name="Text 14">
            <a:extLst>
              <a:ext uri="{FF2B5EF4-FFF2-40B4-BE49-F238E27FC236}">
                <a16:creationId xmlns:a16="http://schemas.microsoft.com/office/drawing/2014/main" id="{C8018B0E-813F-075F-E403-0E07578CB8A3}"/>
              </a:ext>
            </a:extLst>
          </p:cNvPr>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a:extLst>
              <a:ext uri="{FF2B5EF4-FFF2-40B4-BE49-F238E27FC236}">
                <a16:creationId xmlns:a16="http://schemas.microsoft.com/office/drawing/2014/main" id="{364ADB73-BF11-5A16-59DB-3AF80AC18D09}"/>
              </a:ext>
            </a:extLst>
          </p:cNvPr>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Moving the slider</a:t>
            </a:r>
          </a:p>
          <a:p>
            <a:pPr marL="0" indent="0">
              <a:buNone/>
            </a:pPr>
            <a:r>
              <a:rPr lang="en-US" sz="900" i="1" dirty="0">
                <a:solidFill>
                  <a:srgbClr val="CBD5E1"/>
                </a:solidFill>
                <a:latin typeface="Calibri" pitchFamily="34" charset="0"/>
                <a:cs typeface="Calibri" pitchFamily="34" charset="-120"/>
              </a:rPr>
              <a:t>Inputting the number of blades, creates equally spaced blades on the turbine rotor.</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Back to fleet goes to home. Blade design goes to </a:t>
            </a:r>
            <a:endParaRPr lang="en-US" sz="900" dirty="0"/>
          </a:p>
        </p:txBody>
      </p:sp>
      <p:sp>
        <p:nvSpPr>
          <p:cNvPr id="19" name="Shape 16">
            <a:extLst>
              <a:ext uri="{FF2B5EF4-FFF2-40B4-BE49-F238E27FC236}">
                <a16:creationId xmlns:a16="http://schemas.microsoft.com/office/drawing/2014/main" id="{C7D5B43C-9D58-F5A2-8D42-F6B3B59A7BC6}"/>
              </a:ext>
            </a:extLst>
          </p:cNvPr>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a:extLst>
              <a:ext uri="{FF2B5EF4-FFF2-40B4-BE49-F238E27FC236}">
                <a16:creationId xmlns:a16="http://schemas.microsoft.com/office/drawing/2014/main" id="{E2B6DDA1-6249-7A8F-42A3-D5EA7572A69D}"/>
              </a:ext>
            </a:extLst>
          </p:cNvPr>
          <p:cNvSpPr/>
          <p:nvPr/>
        </p:nvSpPr>
        <p:spPr>
          <a:xfrm>
            <a:off x="4626864" y="3840480"/>
            <a:ext cx="36576" cy="1097280"/>
          </a:xfrm>
          <a:prstGeom prst="rect">
            <a:avLst/>
          </a:prstGeom>
          <a:solidFill>
            <a:srgbClr val="0D9488"/>
          </a:solidFill>
          <a:ln/>
        </p:spPr>
        <p:txBody>
          <a:bodyPr/>
          <a:lstStyle/>
          <a:p>
            <a:endParaRPr lang="en-US"/>
          </a:p>
        </p:txBody>
      </p:sp>
      <p:sp>
        <p:nvSpPr>
          <p:cNvPr id="21" name="Text 18">
            <a:extLst>
              <a:ext uri="{FF2B5EF4-FFF2-40B4-BE49-F238E27FC236}">
                <a16:creationId xmlns:a16="http://schemas.microsoft.com/office/drawing/2014/main" id="{DB308481-5419-5385-499A-AAC78C18DEF9}"/>
              </a:ext>
            </a:extLst>
          </p:cNvPr>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a:extLst>
              <a:ext uri="{FF2B5EF4-FFF2-40B4-BE49-F238E27FC236}">
                <a16:creationId xmlns:a16="http://schemas.microsoft.com/office/drawing/2014/main" id="{6A525D80-2DBD-DBB5-A8C2-EF8CF39B69A5}"/>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Text data is: weight, cost, avg output, efficiency. The chart is also interactive, x-axis is wind speed and y-axis is power generated.</a:t>
            </a:r>
            <a:endParaRPr lang="en-US" sz="900" dirty="0"/>
          </a:p>
        </p:txBody>
      </p:sp>
      <p:sp>
        <p:nvSpPr>
          <p:cNvPr id="23" name="Shape 20">
            <a:extLst>
              <a:ext uri="{FF2B5EF4-FFF2-40B4-BE49-F238E27FC236}">
                <a16:creationId xmlns:a16="http://schemas.microsoft.com/office/drawing/2014/main" id="{83FC98E6-E31C-65BD-98F6-7D8FF3F5EE66}"/>
              </a:ext>
            </a:extLst>
          </p:cNvPr>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a:extLst>
              <a:ext uri="{FF2B5EF4-FFF2-40B4-BE49-F238E27FC236}">
                <a16:creationId xmlns:a16="http://schemas.microsoft.com/office/drawing/2014/main" id="{7242D5AD-16C0-BFAB-D5AA-500C1EE14DBF}"/>
              </a:ext>
            </a:extLst>
          </p:cNvPr>
          <p:cNvSpPr/>
          <p:nvPr/>
        </p:nvSpPr>
        <p:spPr>
          <a:xfrm>
            <a:off x="6711696" y="3840480"/>
            <a:ext cx="36576" cy="1097280"/>
          </a:xfrm>
          <a:prstGeom prst="rect">
            <a:avLst/>
          </a:prstGeom>
          <a:solidFill>
            <a:srgbClr val="0D9488"/>
          </a:solidFill>
          <a:ln/>
        </p:spPr>
        <p:txBody>
          <a:bodyPr/>
          <a:lstStyle/>
          <a:p>
            <a:endParaRPr lang="en-US"/>
          </a:p>
        </p:txBody>
      </p:sp>
      <p:sp>
        <p:nvSpPr>
          <p:cNvPr id="25" name="Text 22">
            <a:extLst>
              <a:ext uri="{FF2B5EF4-FFF2-40B4-BE49-F238E27FC236}">
                <a16:creationId xmlns:a16="http://schemas.microsoft.com/office/drawing/2014/main" id="{F3B204CE-D4D9-BDB7-4740-6167470DE4C4}"/>
              </a:ext>
            </a:extLst>
          </p:cNvPr>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a:extLst>
              <a:ext uri="{FF2B5EF4-FFF2-40B4-BE49-F238E27FC236}">
                <a16:creationId xmlns:a16="http://schemas.microsoft.com/office/drawing/2014/main" id="{F72B22DD-93C8-E13E-08CE-878B83AA311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Number of blades drives the weight, cost, avg output, and efficiency output values. The slider changes the animation on the blades and on the chart.</a:t>
            </a:r>
            <a:endParaRPr lang="en-US" sz="900" dirty="0"/>
          </a:p>
        </p:txBody>
      </p:sp>
      <p:sp>
        <p:nvSpPr>
          <p:cNvPr id="27" name="Rounded Rectangle 26">
            <a:extLst>
              <a:ext uri="{FF2B5EF4-FFF2-40B4-BE49-F238E27FC236}">
                <a16:creationId xmlns:a16="http://schemas.microsoft.com/office/drawing/2014/main" id="{2CBFDF5C-73B6-F2EF-3211-F3CE362351D6}"/>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Design</a:t>
            </a:r>
          </a:p>
        </p:txBody>
      </p:sp>
      <p:sp>
        <p:nvSpPr>
          <p:cNvPr id="28" name="Rounded Rectangle 27">
            <a:extLst>
              <a:ext uri="{FF2B5EF4-FFF2-40B4-BE49-F238E27FC236}">
                <a16:creationId xmlns:a16="http://schemas.microsoft.com/office/drawing/2014/main" id="{82249DF5-457E-8396-277C-361E786DF21D}"/>
              </a:ext>
            </a:extLst>
          </p:cNvPr>
          <p:cNvSpPr/>
          <p:nvPr/>
        </p:nvSpPr>
        <p:spPr>
          <a:xfrm>
            <a:off x="1740057" y="1280160"/>
            <a:ext cx="83855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Design</a:t>
            </a:r>
          </a:p>
        </p:txBody>
      </p:sp>
      <p:sp>
        <p:nvSpPr>
          <p:cNvPr id="29" name="Rounded Rectangle 28">
            <a:extLst>
              <a:ext uri="{FF2B5EF4-FFF2-40B4-BE49-F238E27FC236}">
                <a16:creationId xmlns:a16="http://schemas.microsoft.com/office/drawing/2014/main" id="{4DE43B11-31EC-DC80-E481-B16DD099A5A7}"/>
              </a:ext>
            </a:extLst>
          </p:cNvPr>
          <p:cNvSpPr/>
          <p:nvPr/>
        </p:nvSpPr>
        <p:spPr>
          <a:xfrm>
            <a:off x="6166793" y="1307592"/>
            <a:ext cx="838549"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Fleet</a:t>
            </a:r>
          </a:p>
        </p:txBody>
      </p:sp>
      <p:sp>
        <p:nvSpPr>
          <p:cNvPr id="30" name="Rounded Rectangle 29">
            <a:extLst>
              <a:ext uri="{FF2B5EF4-FFF2-40B4-BE49-F238E27FC236}">
                <a16:creationId xmlns:a16="http://schemas.microsoft.com/office/drawing/2014/main" id="{F1140298-C3C3-56ED-5933-C5E1FC523532}"/>
              </a:ext>
            </a:extLst>
          </p:cNvPr>
          <p:cNvSpPr/>
          <p:nvPr/>
        </p:nvSpPr>
        <p:spPr>
          <a:xfrm>
            <a:off x="7658923" y="1307592"/>
            <a:ext cx="83855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Design</a:t>
            </a:r>
          </a:p>
        </p:txBody>
      </p:sp>
      <p:sp>
        <p:nvSpPr>
          <p:cNvPr id="32" name="Rounded Rectangle 31">
            <a:extLst>
              <a:ext uri="{FF2B5EF4-FFF2-40B4-BE49-F238E27FC236}">
                <a16:creationId xmlns:a16="http://schemas.microsoft.com/office/drawing/2014/main" id="{7965BFDE-3958-F942-C813-7FB60519497A}"/>
              </a:ext>
            </a:extLst>
          </p:cNvPr>
          <p:cNvSpPr/>
          <p:nvPr/>
        </p:nvSpPr>
        <p:spPr>
          <a:xfrm>
            <a:off x="1224280" y="3263686"/>
            <a:ext cx="274320" cy="26232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33" name="TextBox 32">
            <a:extLst>
              <a:ext uri="{FF2B5EF4-FFF2-40B4-BE49-F238E27FC236}">
                <a16:creationId xmlns:a16="http://schemas.microsoft.com/office/drawing/2014/main" id="{F88C5C40-1F1D-1A7C-2BE9-624265A2487A}"/>
              </a:ext>
            </a:extLst>
          </p:cNvPr>
          <p:cNvSpPr txBox="1"/>
          <p:nvPr/>
        </p:nvSpPr>
        <p:spPr>
          <a:xfrm>
            <a:off x="566928" y="3277824"/>
            <a:ext cx="703072" cy="215444"/>
          </a:xfrm>
          <a:prstGeom prst="rect">
            <a:avLst/>
          </a:prstGeom>
          <a:noFill/>
        </p:spPr>
        <p:txBody>
          <a:bodyPr wrap="square" rtlCol="0">
            <a:spAutoFit/>
          </a:bodyPr>
          <a:lstStyle/>
          <a:p>
            <a:r>
              <a:rPr lang="en-US" sz="800" dirty="0"/>
              <a:t># of blades:</a:t>
            </a:r>
          </a:p>
        </p:txBody>
      </p:sp>
      <p:sp>
        <p:nvSpPr>
          <p:cNvPr id="35" name="TextBox 34">
            <a:extLst>
              <a:ext uri="{FF2B5EF4-FFF2-40B4-BE49-F238E27FC236}">
                <a16:creationId xmlns:a16="http://schemas.microsoft.com/office/drawing/2014/main" id="{0BDBD2E1-98DB-33AB-4646-6295B54FCA09}"/>
              </a:ext>
            </a:extLst>
          </p:cNvPr>
          <p:cNvSpPr txBox="1"/>
          <p:nvPr/>
        </p:nvSpPr>
        <p:spPr>
          <a:xfrm>
            <a:off x="646525" y="1932311"/>
            <a:ext cx="838549" cy="769441"/>
          </a:xfrm>
          <a:prstGeom prst="rect">
            <a:avLst/>
          </a:prstGeom>
          <a:noFill/>
        </p:spPr>
        <p:txBody>
          <a:bodyPr wrap="square" rtlCol="0">
            <a:spAutoFit/>
          </a:bodyPr>
          <a:lstStyle/>
          <a:p>
            <a:pPr algn="r"/>
            <a:r>
              <a:rPr lang="en-US" sz="1100" dirty="0"/>
              <a:t>weight:</a:t>
            </a:r>
          </a:p>
          <a:p>
            <a:pPr algn="r"/>
            <a:r>
              <a:rPr lang="en-US" sz="1100" dirty="0"/>
              <a:t>cost:</a:t>
            </a:r>
          </a:p>
          <a:p>
            <a:pPr algn="r"/>
            <a:r>
              <a:rPr lang="en-US" sz="1100" dirty="0"/>
              <a:t>avg output:</a:t>
            </a:r>
          </a:p>
          <a:p>
            <a:pPr algn="r"/>
            <a:r>
              <a:rPr lang="en-US" sz="1100" dirty="0"/>
              <a:t>efficiency:</a:t>
            </a:r>
          </a:p>
        </p:txBody>
      </p:sp>
      <p:sp>
        <p:nvSpPr>
          <p:cNvPr id="36" name="Rounded Rectangle 35">
            <a:extLst>
              <a:ext uri="{FF2B5EF4-FFF2-40B4-BE49-F238E27FC236}">
                <a16:creationId xmlns:a16="http://schemas.microsoft.com/office/drawing/2014/main" id="{02F826DD-359E-1881-BC78-2AAE7D205254}"/>
              </a:ext>
            </a:extLst>
          </p:cNvPr>
          <p:cNvSpPr/>
          <p:nvPr/>
        </p:nvSpPr>
        <p:spPr>
          <a:xfrm>
            <a:off x="1498600" y="1998133"/>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7" name="Rounded Rectangle 36">
            <a:extLst>
              <a:ext uri="{FF2B5EF4-FFF2-40B4-BE49-F238E27FC236}">
                <a16:creationId xmlns:a16="http://schemas.microsoft.com/office/drawing/2014/main" id="{D17CBB0F-3EE6-062C-BC91-4D2683B2BA54}"/>
              </a:ext>
            </a:extLst>
          </p:cNvPr>
          <p:cNvSpPr/>
          <p:nvPr/>
        </p:nvSpPr>
        <p:spPr>
          <a:xfrm>
            <a:off x="1498600" y="217901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8" name="Rounded Rectangle 37">
            <a:extLst>
              <a:ext uri="{FF2B5EF4-FFF2-40B4-BE49-F238E27FC236}">
                <a16:creationId xmlns:a16="http://schemas.microsoft.com/office/drawing/2014/main" id="{5B8316EC-0040-7F65-833E-F151DDBCC7D1}"/>
              </a:ext>
            </a:extLst>
          </p:cNvPr>
          <p:cNvSpPr/>
          <p:nvPr/>
        </p:nvSpPr>
        <p:spPr>
          <a:xfrm>
            <a:off x="1498600" y="236041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9" name="Rounded Rectangle 38">
            <a:extLst>
              <a:ext uri="{FF2B5EF4-FFF2-40B4-BE49-F238E27FC236}">
                <a16:creationId xmlns:a16="http://schemas.microsoft.com/office/drawing/2014/main" id="{0E03DE8D-D963-2B22-C82E-2D47F1D4E63D}"/>
              </a:ext>
            </a:extLst>
          </p:cNvPr>
          <p:cNvSpPr/>
          <p:nvPr/>
        </p:nvSpPr>
        <p:spPr>
          <a:xfrm>
            <a:off x="1498600" y="2541825"/>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40" name="Picture 39">
            <a:extLst>
              <a:ext uri="{FF2B5EF4-FFF2-40B4-BE49-F238E27FC236}">
                <a16:creationId xmlns:a16="http://schemas.microsoft.com/office/drawing/2014/main" id="{F0E766DD-28BA-765C-07D1-EADAA51C7541}"/>
              </a:ext>
            </a:extLst>
          </p:cNvPr>
          <p:cNvPicPr>
            <a:picLocks noChangeAspect="1"/>
          </p:cNvPicPr>
          <p:nvPr/>
        </p:nvPicPr>
        <p:blipFill>
          <a:blip r:embed="rId4"/>
          <a:stretch>
            <a:fillRect/>
          </a:stretch>
        </p:blipFill>
        <p:spPr>
          <a:xfrm>
            <a:off x="2234367" y="1692176"/>
            <a:ext cx="1552795" cy="1249709"/>
          </a:xfrm>
          <a:prstGeom prst="rect">
            <a:avLst/>
          </a:prstGeom>
        </p:spPr>
      </p:pic>
      <p:pic>
        <p:nvPicPr>
          <p:cNvPr id="41" name="Picture 40">
            <a:extLst>
              <a:ext uri="{FF2B5EF4-FFF2-40B4-BE49-F238E27FC236}">
                <a16:creationId xmlns:a16="http://schemas.microsoft.com/office/drawing/2014/main" id="{24B5D412-274B-9D46-67EF-E184D66E4744}"/>
              </a:ext>
            </a:extLst>
          </p:cNvPr>
          <p:cNvPicPr>
            <a:picLocks noChangeAspect="1"/>
          </p:cNvPicPr>
          <p:nvPr/>
        </p:nvPicPr>
        <p:blipFill>
          <a:blip r:embed="rId5"/>
          <a:stretch>
            <a:fillRect/>
          </a:stretch>
        </p:blipFill>
        <p:spPr>
          <a:xfrm>
            <a:off x="3285066" y="3088718"/>
            <a:ext cx="1747225" cy="437296"/>
          </a:xfrm>
          <a:prstGeom prst="rect">
            <a:avLst/>
          </a:prstGeom>
        </p:spPr>
      </p:pic>
      <p:pic>
        <p:nvPicPr>
          <p:cNvPr id="1026" name="Picture 2" descr="Typical wind turbine power curve : the turbine begins to operate at the...  | Download Scientific Diagram">
            <a:extLst>
              <a:ext uri="{FF2B5EF4-FFF2-40B4-BE49-F238E27FC236}">
                <a16:creationId xmlns:a16="http://schemas.microsoft.com/office/drawing/2014/main" id="{8188D3FD-49A0-2F6D-1ADB-E6D2F0C9C0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7684" y="1685682"/>
            <a:ext cx="1488203" cy="134947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ypical wind turbine power curve : the turbine begins to operate at the...  | Download Scientific Diagram">
            <a:extLst>
              <a:ext uri="{FF2B5EF4-FFF2-40B4-BE49-F238E27FC236}">
                <a16:creationId xmlns:a16="http://schemas.microsoft.com/office/drawing/2014/main" id="{B3D1AF42-975C-8F8D-2F5E-FFA1B9F8D1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621" y="1774295"/>
            <a:ext cx="1044853" cy="9474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A7FE2FD7-4CF6-B1EE-003F-F58B8BF48420}"/>
              </a:ext>
            </a:extLst>
          </p:cNvPr>
          <p:cNvPicPr>
            <a:picLocks noChangeAspect="1"/>
          </p:cNvPicPr>
          <p:nvPr/>
        </p:nvPicPr>
        <p:blipFill>
          <a:blip r:embed="rId4"/>
          <a:stretch>
            <a:fillRect/>
          </a:stretch>
        </p:blipFill>
        <p:spPr>
          <a:xfrm>
            <a:off x="6109494" y="1774295"/>
            <a:ext cx="1177233" cy="947452"/>
          </a:xfrm>
          <a:prstGeom prst="rect">
            <a:avLst/>
          </a:prstGeom>
        </p:spPr>
      </p:pic>
      <p:sp>
        <p:nvSpPr>
          <p:cNvPr id="45" name="Rounded Rectangle 44">
            <a:extLst>
              <a:ext uri="{FF2B5EF4-FFF2-40B4-BE49-F238E27FC236}">
                <a16:creationId xmlns:a16="http://schemas.microsoft.com/office/drawing/2014/main" id="{7C91D3D1-8AF6-B0A0-8B14-60B6FE260321}"/>
              </a:ext>
            </a:extLst>
          </p:cNvPr>
          <p:cNvSpPr/>
          <p:nvPr/>
        </p:nvSpPr>
        <p:spPr>
          <a:xfrm>
            <a:off x="6550194" y="2840528"/>
            <a:ext cx="274320" cy="28039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46" name="TextBox 45">
            <a:extLst>
              <a:ext uri="{FF2B5EF4-FFF2-40B4-BE49-F238E27FC236}">
                <a16:creationId xmlns:a16="http://schemas.microsoft.com/office/drawing/2014/main" id="{133D6692-EC5E-E5D4-7430-2FAE902BAF79}"/>
              </a:ext>
            </a:extLst>
          </p:cNvPr>
          <p:cNvSpPr txBox="1"/>
          <p:nvPr/>
        </p:nvSpPr>
        <p:spPr>
          <a:xfrm>
            <a:off x="5955652" y="2872729"/>
            <a:ext cx="703072" cy="215444"/>
          </a:xfrm>
          <a:prstGeom prst="rect">
            <a:avLst/>
          </a:prstGeom>
          <a:noFill/>
        </p:spPr>
        <p:txBody>
          <a:bodyPr wrap="square" rtlCol="0">
            <a:spAutoFit/>
          </a:bodyPr>
          <a:lstStyle/>
          <a:p>
            <a:r>
              <a:rPr lang="en-US" sz="800" dirty="0"/>
              <a:t># of blades:</a:t>
            </a:r>
          </a:p>
        </p:txBody>
      </p:sp>
      <p:pic>
        <p:nvPicPr>
          <p:cNvPr id="47" name="Picture 46">
            <a:extLst>
              <a:ext uri="{FF2B5EF4-FFF2-40B4-BE49-F238E27FC236}">
                <a16:creationId xmlns:a16="http://schemas.microsoft.com/office/drawing/2014/main" id="{1D311F7A-3F88-F3E4-BB8D-241E024AA128}"/>
              </a:ext>
            </a:extLst>
          </p:cNvPr>
          <p:cNvPicPr>
            <a:picLocks noChangeAspect="1"/>
          </p:cNvPicPr>
          <p:nvPr/>
        </p:nvPicPr>
        <p:blipFill>
          <a:blip r:embed="rId5"/>
          <a:stretch>
            <a:fillRect/>
          </a:stretch>
        </p:blipFill>
        <p:spPr>
          <a:xfrm>
            <a:off x="6899975" y="2778585"/>
            <a:ext cx="1747225" cy="437296"/>
          </a:xfrm>
          <a:prstGeom prst="rect">
            <a:avLst/>
          </a:prstGeom>
        </p:spPr>
      </p:pic>
      <p:sp>
        <p:nvSpPr>
          <p:cNvPr id="48" name="TextBox 47">
            <a:extLst>
              <a:ext uri="{FF2B5EF4-FFF2-40B4-BE49-F238E27FC236}">
                <a16:creationId xmlns:a16="http://schemas.microsoft.com/office/drawing/2014/main" id="{25E97EBF-9D94-38A8-476A-9DD0A0576BE6}"/>
              </a:ext>
            </a:extLst>
          </p:cNvPr>
          <p:cNvSpPr txBox="1"/>
          <p:nvPr/>
        </p:nvSpPr>
        <p:spPr>
          <a:xfrm>
            <a:off x="5765235" y="3199899"/>
            <a:ext cx="838549" cy="430887"/>
          </a:xfrm>
          <a:prstGeom prst="rect">
            <a:avLst/>
          </a:prstGeom>
          <a:noFill/>
        </p:spPr>
        <p:txBody>
          <a:bodyPr wrap="square" rtlCol="0">
            <a:spAutoFit/>
          </a:bodyPr>
          <a:lstStyle/>
          <a:p>
            <a:pPr algn="r"/>
            <a:r>
              <a:rPr lang="en-US" sz="1100" dirty="0"/>
              <a:t>weight:</a:t>
            </a:r>
          </a:p>
          <a:p>
            <a:pPr algn="r"/>
            <a:r>
              <a:rPr lang="en-US" sz="1100" dirty="0"/>
              <a:t>cost:</a:t>
            </a:r>
          </a:p>
        </p:txBody>
      </p:sp>
      <p:sp>
        <p:nvSpPr>
          <p:cNvPr id="49" name="Rounded Rectangle 48">
            <a:extLst>
              <a:ext uri="{FF2B5EF4-FFF2-40B4-BE49-F238E27FC236}">
                <a16:creationId xmlns:a16="http://schemas.microsoft.com/office/drawing/2014/main" id="{57095335-F185-0C0E-F5A5-A924564E06BB}"/>
              </a:ext>
            </a:extLst>
          </p:cNvPr>
          <p:cNvSpPr/>
          <p:nvPr/>
        </p:nvSpPr>
        <p:spPr>
          <a:xfrm>
            <a:off x="6617310" y="326572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0" name="Rounded Rectangle 49">
            <a:extLst>
              <a:ext uri="{FF2B5EF4-FFF2-40B4-BE49-F238E27FC236}">
                <a16:creationId xmlns:a16="http://schemas.microsoft.com/office/drawing/2014/main" id="{28809A0C-32F2-5763-1D7A-FF2DC0D5A6F0}"/>
              </a:ext>
            </a:extLst>
          </p:cNvPr>
          <p:cNvSpPr/>
          <p:nvPr/>
        </p:nvSpPr>
        <p:spPr>
          <a:xfrm>
            <a:off x="6617310" y="3446599"/>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8" name="TextBox 57">
            <a:extLst>
              <a:ext uri="{FF2B5EF4-FFF2-40B4-BE49-F238E27FC236}">
                <a16:creationId xmlns:a16="http://schemas.microsoft.com/office/drawing/2014/main" id="{64817552-B002-08C8-EFB7-AC033A685B31}"/>
              </a:ext>
            </a:extLst>
          </p:cNvPr>
          <p:cNvSpPr txBox="1"/>
          <p:nvPr/>
        </p:nvSpPr>
        <p:spPr>
          <a:xfrm>
            <a:off x="7171981" y="3231920"/>
            <a:ext cx="838549" cy="430887"/>
          </a:xfrm>
          <a:prstGeom prst="rect">
            <a:avLst/>
          </a:prstGeom>
          <a:noFill/>
        </p:spPr>
        <p:txBody>
          <a:bodyPr wrap="square" rtlCol="0">
            <a:spAutoFit/>
          </a:bodyPr>
          <a:lstStyle/>
          <a:p>
            <a:pPr algn="r"/>
            <a:r>
              <a:rPr lang="en-US" sz="1100" dirty="0"/>
              <a:t>avg output:</a:t>
            </a:r>
          </a:p>
          <a:p>
            <a:pPr algn="r"/>
            <a:r>
              <a:rPr lang="en-US" sz="1100" dirty="0"/>
              <a:t>efficiency:</a:t>
            </a:r>
          </a:p>
        </p:txBody>
      </p:sp>
      <p:sp>
        <p:nvSpPr>
          <p:cNvPr id="59" name="Rounded Rectangle 58">
            <a:extLst>
              <a:ext uri="{FF2B5EF4-FFF2-40B4-BE49-F238E27FC236}">
                <a16:creationId xmlns:a16="http://schemas.microsoft.com/office/drawing/2014/main" id="{84D62F06-3083-3A4D-777F-D47602A853D7}"/>
              </a:ext>
            </a:extLst>
          </p:cNvPr>
          <p:cNvSpPr/>
          <p:nvPr/>
        </p:nvSpPr>
        <p:spPr>
          <a:xfrm>
            <a:off x="8024056" y="3297742"/>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60" name="Rounded Rectangle 59">
            <a:extLst>
              <a:ext uri="{FF2B5EF4-FFF2-40B4-BE49-F238E27FC236}">
                <a16:creationId xmlns:a16="http://schemas.microsoft.com/office/drawing/2014/main" id="{02254DDE-F8D9-A282-69F6-CFBE20B10F65}"/>
              </a:ext>
            </a:extLst>
          </p:cNvPr>
          <p:cNvSpPr/>
          <p:nvPr/>
        </p:nvSpPr>
        <p:spPr>
          <a:xfrm>
            <a:off x="8024056" y="3478620"/>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1" name="Text 1">
            <a:extLst>
              <a:ext uri="{FF2B5EF4-FFF2-40B4-BE49-F238E27FC236}">
                <a16:creationId xmlns:a16="http://schemas.microsoft.com/office/drawing/2014/main" id="{56FD9DD6-7BF6-4E9C-2FBA-6932CD967B6D}"/>
              </a:ext>
            </a:extLst>
          </p:cNvPr>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Overview</a:t>
            </a:r>
            <a:endParaRPr lang="en-US" sz="2200" dirty="0"/>
          </a:p>
        </p:txBody>
      </p:sp>
      <p:sp>
        <p:nvSpPr>
          <p:cNvPr id="34" name="Text 2">
            <a:extLst>
              <a:ext uri="{FF2B5EF4-FFF2-40B4-BE49-F238E27FC236}">
                <a16:creationId xmlns:a16="http://schemas.microsoft.com/office/drawing/2014/main" id="{C0576AA1-26DD-A658-9C74-4DFF6D7B5B67}"/>
              </a:ext>
            </a:extLst>
          </p:cNvPr>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a:t>
            </a:r>
            <a:endParaRPr lang="en-US" sz="1100" dirty="0"/>
          </a:p>
        </p:txBody>
      </p:sp>
      <p:sp>
        <p:nvSpPr>
          <p:cNvPr id="42" name="Text 3">
            <a:extLst>
              <a:ext uri="{FF2B5EF4-FFF2-40B4-BE49-F238E27FC236}">
                <a16:creationId xmlns:a16="http://schemas.microsoft.com/office/drawing/2014/main" id="{970E65A3-D52C-B042-0147-3D9F6751558A}"/>
              </a:ext>
            </a:extLst>
          </p:cNvPr>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5</a:t>
            </a:r>
            <a:endParaRPr lang="en-US" sz="1100" dirty="0"/>
          </a:p>
        </p:txBody>
      </p:sp>
    </p:spTree>
    <p:extLst>
      <p:ext uri="{BB962C8B-B14F-4D97-AF65-F5344CB8AC3E}">
        <p14:creationId xmlns:p14="http://schemas.microsoft.com/office/powerpoint/2010/main" val="2537693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Detail</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/design/:subsystemId/detail</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6</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This page is </a:t>
            </a:r>
            <a:r>
              <a:rPr lang="en-US" sz="900" i="1">
                <a:solidFill>
                  <a:srgbClr val="CBD5E1"/>
                </a:solidFill>
                <a:latin typeface="Calibri" pitchFamily="34" charset="0"/>
                <a:ea typeface="Calibri" pitchFamily="34" charset="-122"/>
                <a:cs typeface="Calibri" pitchFamily="34" charset="-120"/>
              </a:rPr>
              <a:t>for the user. </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[Interactive elements and what they do]</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[What data appears? Source?]</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[Loading, empty, error, permissions]</a:t>
            </a:r>
            <a:endParaRPr lang="en-US" sz="900" dirty="0"/>
          </a:p>
        </p:txBody>
      </p:sp>
      <p:sp>
        <p:nvSpPr>
          <p:cNvPr id="27" name="Rounded Rectangle 26">
            <a:extLst>
              <a:ext uri="{FF2B5EF4-FFF2-40B4-BE49-F238E27FC236}">
                <a16:creationId xmlns:a16="http://schemas.microsoft.com/office/drawing/2014/main" id="{8E995AE9-87B2-5E0F-C592-1F5CB247520F}"/>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Blades</a:t>
            </a:r>
          </a:p>
        </p:txBody>
      </p:sp>
      <p:cxnSp>
        <p:nvCxnSpPr>
          <p:cNvPr id="35" name="Straight Arrow Connector 34">
            <a:extLst>
              <a:ext uri="{FF2B5EF4-FFF2-40B4-BE49-F238E27FC236}">
                <a16:creationId xmlns:a16="http://schemas.microsoft.com/office/drawing/2014/main" id="{1976B1F8-1AC1-563E-AB6A-6ED8EBDDDECD}"/>
              </a:ext>
            </a:extLst>
          </p:cNvPr>
          <p:cNvCxnSpPr>
            <a:cxnSpLocks/>
          </p:cNvCxnSpPr>
          <p:nvPr/>
        </p:nvCxnSpPr>
        <p:spPr>
          <a:xfrm>
            <a:off x="914400" y="1838960"/>
            <a:ext cx="0" cy="10058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074" name="Picture 2" descr="Wind Turbine Blade Design - Flat, Bent or Curved You Choose">
            <a:extLst>
              <a:ext uri="{FF2B5EF4-FFF2-40B4-BE49-F238E27FC236}">
                <a16:creationId xmlns:a16="http://schemas.microsoft.com/office/drawing/2014/main" id="{1014F3C2-2658-9346-B64F-41FB7A705D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3440" y="1703919"/>
            <a:ext cx="3718559" cy="15299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73152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Shared Patterns &amp; Conventions</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Document global decisions so Claude Code doesn't reinvent them.</a:t>
            </a:r>
            <a:endParaRPr lang="en-US" sz="1300" dirty="0"/>
          </a:p>
        </p:txBody>
      </p:sp>
      <p:sp>
        <p:nvSpPr>
          <p:cNvPr id="5" name="Shape 2"/>
          <p:cNvSpPr/>
          <p:nvPr/>
        </p:nvSpPr>
        <p:spPr>
          <a:xfrm>
            <a:off x="54864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463040"/>
          </a:xfrm>
          <a:prstGeom prst="rect">
            <a:avLst/>
          </a:prstGeom>
          <a:solidFill>
            <a:srgbClr val="0D9488"/>
          </a:solidFill>
          <a:ln/>
        </p:spPr>
        <p:txBody>
          <a:bodyPr/>
          <a:lstStyle/>
          <a:p>
            <a:endParaRPr lang="en-US"/>
          </a:p>
        </p:txBody>
      </p:sp>
      <p:sp>
        <p:nvSpPr>
          <p:cNvPr id="7" name="Text 4"/>
          <p:cNvSpPr/>
          <p:nvPr/>
        </p:nvSpPr>
        <p:spPr>
          <a:xfrm>
            <a:off x="77724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Navigation &amp; Routing</a:t>
            </a:r>
            <a:endParaRPr lang="en-US" sz="1400" dirty="0"/>
          </a:p>
        </p:txBody>
      </p:sp>
      <p:sp>
        <p:nvSpPr>
          <p:cNvPr id="8" name="Text 5"/>
          <p:cNvSpPr/>
          <p:nvPr/>
        </p:nvSpPr>
        <p:spPr>
          <a:xfrm>
            <a:off x="77724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Routing buttons will have subtle arrow shapes.</a:t>
            </a:r>
            <a:endParaRPr lang="en-US" sz="1100" dirty="0"/>
          </a:p>
        </p:txBody>
      </p:sp>
      <p:sp>
        <p:nvSpPr>
          <p:cNvPr id="9" name="Shape 6"/>
          <p:cNvSpPr/>
          <p:nvPr/>
        </p:nvSpPr>
        <p:spPr>
          <a:xfrm>
            <a:off x="475488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463040"/>
          </a:xfrm>
          <a:prstGeom prst="rect">
            <a:avLst/>
          </a:prstGeom>
          <a:solidFill>
            <a:srgbClr val="0D9488"/>
          </a:solidFill>
          <a:ln/>
        </p:spPr>
        <p:txBody>
          <a:bodyPr/>
          <a:lstStyle/>
          <a:p>
            <a:endParaRPr lang="en-US"/>
          </a:p>
        </p:txBody>
      </p:sp>
      <p:sp>
        <p:nvSpPr>
          <p:cNvPr id="11" name="Text 8"/>
          <p:cNvSpPr/>
          <p:nvPr/>
        </p:nvSpPr>
        <p:spPr>
          <a:xfrm>
            <a:off x="498348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API Response Format</a:t>
            </a:r>
            <a:endParaRPr lang="en-US" sz="1400" dirty="0"/>
          </a:p>
        </p:txBody>
      </p:sp>
      <p:sp>
        <p:nvSpPr>
          <p:cNvPr id="12" name="Text 9"/>
          <p:cNvSpPr/>
          <p:nvPr/>
        </p:nvSpPr>
        <p:spPr>
          <a:xfrm>
            <a:off x="498348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API responds with JSON. </a:t>
            </a:r>
            <a:endParaRPr lang="en-US" sz="1100" dirty="0"/>
          </a:p>
        </p:txBody>
      </p:sp>
      <p:sp>
        <p:nvSpPr>
          <p:cNvPr id="13" name="Shape 10"/>
          <p:cNvSpPr/>
          <p:nvPr/>
        </p:nvSpPr>
        <p:spPr>
          <a:xfrm>
            <a:off x="54864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154680"/>
            <a:ext cx="54864" cy="1463040"/>
          </a:xfrm>
          <a:prstGeom prst="rect">
            <a:avLst/>
          </a:prstGeom>
          <a:solidFill>
            <a:srgbClr val="0D9488"/>
          </a:solidFill>
          <a:ln/>
        </p:spPr>
        <p:txBody>
          <a:bodyPr/>
          <a:lstStyle/>
          <a:p>
            <a:endParaRPr lang="en-US"/>
          </a:p>
        </p:txBody>
      </p:sp>
      <p:sp>
        <p:nvSpPr>
          <p:cNvPr id="15" name="Text 12"/>
          <p:cNvSpPr/>
          <p:nvPr/>
        </p:nvSpPr>
        <p:spPr>
          <a:xfrm>
            <a:off x="77724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UI Components &amp; Styling</a:t>
            </a:r>
            <a:endParaRPr lang="en-US" sz="1400" dirty="0"/>
          </a:p>
        </p:txBody>
      </p:sp>
      <p:sp>
        <p:nvSpPr>
          <p:cNvPr id="16" name="Text 13"/>
          <p:cNvSpPr/>
          <p:nvPr/>
        </p:nvSpPr>
        <p:spPr>
          <a:xfrm>
            <a:off x="77724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UI should be OK for colorblind people. The styles can hopefully be modelled after the latest iOS UI.</a:t>
            </a:r>
            <a:endParaRPr lang="en-US" sz="1100" dirty="0"/>
          </a:p>
        </p:txBody>
      </p:sp>
      <p:sp>
        <p:nvSpPr>
          <p:cNvPr id="17" name="Shape 14"/>
          <p:cNvSpPr/>
          <p:nvPr/>
        </p:nvSpPr>
        <p:spPr>
          <a:xfrm>
            <a:off x="475488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154680"/>
            <a:ext cx="54864" cy="1463040"/>
          </a:xfrm>
          <a:prstGeom prst="rect">
            <a:avLst/>
          </a:prstGeom>
          <a:solidFill>
            <a:srgbClr val="0D9488"/>
          </a:solidFill>
          <a:ln/>
        </p:spPr>
        <p:txBody>
          <a:bodyPr/>
          <a:lstStyle/>
          <a:p>
            <a:endParaRPr lang="en-US"/>
          </a:p>
        </p:txBody>
      </p:sp>
      <p:sp>
        <p:nvSpPr>
          <p:cNvPr id="19" name="Text 16"/>
          <p:cNvSpPr/>
          <p:nvPr/>
        </p:nvSpPr>
        <p:spPr>
          <a:xfrm>
            <a:off x="498348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Content &amp; Animations</a:t>
            </a:r>
            <a:endParaRPr lang="en-US" sz="1400" dirty="0"/>
          </a:p>
        </p:txBody>
      </p:sp>
      <p:sp>
        <p:nvSpPr>
          <p:cNvPr id="20" name="Text 17"/>
          <p:cNvSpPr/>
          <p:nvPr/>
        </p:nvSpPr>
        <p:spPr>
          <a:xfrm>
            <a:off x="498348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The ‘Individual Stories’ feature should mimic the user action of Instagram stories. The app is small enough that static assets can be used.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892</Words>
  <Application>Microsoft Macintosh PowerPoint</Application>
  <PresentationFormat>On-screen Show (16:9)</PresentationFormat>
  <Paragraphs>162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Wireframe Documentation for Claude Code</dc:title>
  <dc:subject>PptxGenJS Presentation</dc:subject>
  <dc:creator>Wireframe Template</dc:creator>
  <cp:lastModifiedBy>Matthew Zupan</cp:lastModifiedBy>
  <cp:revision>5</cp:revision>
  <dcterms:created xsi:type="dcterms:W3CDTF">2026-02-18T02:46:59Z</dcterms:created>
  <dcterms:modified xsi:type="dcterms:W3CDTF">2026-02-18T05:58:42Z</dcterms:modified>
</cp:coreProperties>
</file>