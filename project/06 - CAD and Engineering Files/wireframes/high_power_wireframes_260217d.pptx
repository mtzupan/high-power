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5"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04"/>
    <p:restoredTop sz="94610"/>
  </p:normalViewPr>
  <p:slideViewPr>
    <p:cSldViewPr snapToGrid="0" snapToObjects="1">
      <p:cViewPr>
        <p:scale>
          <a:sx n="164" d="100"/>
          <a:sy n="164" d="100"/>
        </p:scale>
        <p:origin x="176" y="7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7637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9CD3-FB07-BD3B-4A5D-21F866AE8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322FC-320D-D920-0F08-A816C0A64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99443E-DA5C-9584-62EA-ED71B4E774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B545D0-179D-F6C8-64E0-D33D813CA44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907070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11480"/>
            <a:ext cx="411480" cy="411480"/>
          </a:xfrm>
          <a:prstGeom prst="rect">
            <a:avLst/>
          </a:prstGeom>
        </p:spPr>
      </p:pic>
      <p:sp>
        <p:nvSpPr>
          <p:cNvPr id="3" name="Text 0"/>
          <p:cNvSpPr/>
          <p:nvPr/>
        </p:nvSpPr>
        <p:spPr>
          <a:xfrm>
            <a:off x="1051560" y="320040"/>
            <a:ext cx="6400800" cy="5943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App Overview &amp; Stack Context</a:t>
            </a:r>
            <a:endParaRPr lang="en-US" sz="3200" dirty="0"/>
          </a:p>
        </p:txBody>
      </p:sp>
      <p:sp>
        <p:nvSpPr>
          <p:cNvPr id="4" name="Text 1"/>
          <p:cNvSpPr/>
          <p:nvPr/>
        </p:nvSpPr>
        <p:spPr>
          <a:xfrm>
            <a:off x="548640" y="960120"/>
            <a:ext cx="7772400" cy="365760"/>
          </a:xfrm>
          <a:prstGeom prst="rect">
            <a:avLst/>
          </a:prstGeom>
          <a:noFill/>
          <a:ln/>
        </p:spPr>
        <p:txBody>
          <a:bodyPr wrap="square" lIns="0" tIns="0" rIns="0" bIns="0" rtlCol="0" anchor="ctr"/>
          <a:lstStyle/>
          <a:p>
            <a:pPr marL="0" indent="0">
              <a:buNone/>
            </a:pPr>
            <a:r>
              <a:rPr lang="en-US" sz="1300" i="1" dirty="0">
                <a:solidFill>
                  <a:srgbClr val="CBD5E1"/>
                </a:solidFill>
                <a:latin typeface="Calibri" pitchFamily="34" charset="0"/>
                <a:ea typeface="Calibri" pitchFamily="34" charset="-122"/>
                <a:cs typeface="Calibri" pitchFamily="34" charset="-120"/>
              </a:rPr>
              <a:t>This slide orients Claude Code. Fill in your details below.</a:t>
            </a:r>
            <a:endParaRPr lang="en-US" sz="1300" dirty="0"/>
          </a:p>
        </p:txBody>
      </p:sp>
      <p:sp>
        <p:nvSpPr>
          <p:cNvPr id="5" name="Shape 2"/>
          <p:cNvSpPr/>
          <p:nvPr/>
        </p:nvSpPr>
        <p:spPr>
          <a:xfrm>
            <a:off x="548640" y="1463040"/>
            <a:ext cx="3840480" cy="182880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6" name="Shape 3"/>
          <p:cNvSpPr/>
          <p:nvPr/>
        </p:nvSpPr>
        <p:spPr>
          <a:xfrm>
            <a:off x="548640" y="1463040"/>
            <a:ext cx="54864" cy="1828800"/>
          </a:xfrm>
          <a:prstGeom prst="rect">
            <a:avLst/>
          </a:prstGeom>
          <a:solidFill>
            <a:srgbClr val="0D9488"/>
          </a:solidFill>
          <a:ln/>
        </p:spPr>
        <p:txBody>
          <a:bodyPr/>
          <a:lstStyle/>
          <a:p>
            <a:endParaRPr lang="en-US"/>
          </a:p>
        </p:txBody>
      </p:sp>
      <p:sp>
        <p:nvSpPr>
          <p:cNvPr id="7" name="Text 4"/>
          <p:cNvSpPr/>
          <p:nvPr/>
        </p:nvSpPr>
        <p:spPr>
          <a:xfrm>
            <a:off x="777240" y="1554480"/>
            <a:ext cx="3474720" cy="320040"/>
          </a:xfrm>
          <a:prstGeom prst="rect">
            <a:avLst/>
          </a:prstGeom>
          <a:noFill/>
          <a:ln/>
        </p:spPr>
        <p:txBody>
          <a:bodyPr wrap="square" lIns="0" tIns="0" rIns="0" bIns="0" rtlCol="0" anchor="ctr"/>
          <a:lstStyle/>
          <a:p>
            <a:pPr marL="0" indent="0">
              <a:buNone/>
            </a:pPr>
            <a:r>
              <a:rPr lang="en-US" sz="1600" b="1" dirty="0">
                <a:solidFill>
                  <a:srgbClr val="0D9488"/>
                </a:solidFill>
                <a:latin typeface="Trebuchet MS" pitchFamily="34" charset="0"/>
                <a:ea typeface="Trebuchet MS" pitchFamily="34" charset="-122"/>
                <a:cs typeface="Trebuchet MS" pitchFamily="34" charset="-120"/>
              </a:rPr>
              <a:t>Tech Stack</a:t>
            </a:r>
            <a:endParaRPr lang="en-US" sz="1600" dirty="0"/>
          </a:p>
        </p:txBody>
      </p:sp>
      <p:sp>
        <p:nvSpPr>
          <p:cNvPr id="8" name="Text 5"/>
          <p:cNvSpPr/>
          <p:nvPr/>
        </p:nvSpPr>
        <p:spPr>
          <a:xfrm>
            <a:off x="777240" y="1920240"/>
            <a:ext cx="3474720" cy="1280160"/>
          </a:xfrm>
          <a:prstGeom prst="rect">
            <a:avLst/>
          </a:prstGeom>
          <a:noFill/>
          <a:ln/>
        </p:spPr>
        <p:txBody>
          <a:bodyPr wrap="square" lIns="0" tIns="0" rIns="0" bIns="0" rtlCol="0" anchor="t"/>
          <a:lstStyle/>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Frontend: </a:t>
            </a:r>
            <a:r>
              <a:rPr lang="en-US" sz="1100" dirty="0" err="1">
                <a:solidFill>
                  <a:srgbClr val="CBD5E1"/>
                </a:solidFill>
                <a:latin typeface="Calibri" pitchFamily="34" charset="0"/>
                <a:ea typeface="Calibri" pitchFamily="34" charset="-122"/>
                <a:cs typeface="Calibri" pitchFamily="34" charset="-120"/>
              </a:rPr>
              <a:t>Next.js</a:t>
            </a:r>
            <a:r>
              <a:rPr lang="en-US" sz="1100" dirty="0">
                <a:solidFill>
                  <a:srgbClr val="CBD5E1"/>
                </a:solidFill>
                <a:latin typeface="Calibri" pitchFamily="34" charset="0"/>
                <a:ea typeface="Calibri" pitchFamily="34" charset="-122"/>
                <a:cs typeface="Calibri" pitchFamily="34" charset="-120"/>
              </a:rPr>
              <a:t> (implemented)</a:t>
            </a:r>
            <a:endParaRPr lang="en-US" sz="1100" dirty="0"/>
          </a:p>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Backend: </a:t>
            </a:r>
            <a:r>
              <a:rPr lang="en-US" sz="1100" dirty="0">
                <a:solidFill>
                  <a:srgbClr val="CBD5E1"/>
                </a:solidFill>
                <a:latin typeface="Calibri" pitchFamily="34" charset="0"/>
                <a:ea typeface="Calibri" pitchFamily="34" charset="-122"/>
                <a:cs typeface="Calibri" pitchFamily="34" charset="-120"/>
              </a:rPr>
              <a:t>python</a:t>
            </a:r>
            <a:endParaRPr lang="en-US" sz="1100" dirty="0"/>
          </a:p>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ORM / Migrations: </a:t>
            </a:r>
            <a:r>
              <a:rPr lang="en-US" sz="1100" b="1" dirty="0" err="1">
                <a:solidFill>
                  <a:srgbClr val="CBD5E1"/>
                </a:solidFill>
                <a:latin typeface="Calibri" pitchFamily="34" charset="0"/>
                <a:ea typeface="Calibri" pitchFamily="34" charset="-122"/>
                <a:cs typeface="Calibri" pitchFamily="34" charset="-120"/>
              </a:rPr>
              <a:t>S</a:t>
            </a:r>
            <a:r>
              <a:rPr lang="en-US" sz="1100" dirty="0" err="1">
                <a:solidFill>
                  <a:srgbClr val="CBD5E1"/>
                </a:solidFill>
                <a:latin typeface="Calibri" pitchFamily="34" charset="0"/>
                <a:ea typeface="Calibri" pitchFamily="34" charset="-122"/>
                <a:cs typeface="Calibri" pitchFamily="34" charset="-120"/>
              </a:rPr>
              <a:t>QLAlchemy</a:t>
            </a:r>
            <a:r>
              <a:rPr lang="en-US" sz="1100" dirty="0">
                <a:solidFill>
                  <a:srgbClr val="CBD5E1"/>
                </a:solidFill>
                <a:latin typeface="Calibri" pitchFamily="34" charset="0"/>
                <a:ea typeface="Calibri" pitchFamily="34" charset="-122"/>
                <a:cs typeface="Calibri" pitchFamily="34" charset="-120"/>
              </a:rPr>
              <a:t> + Alembic</a:t>
            </a:r>
            <a:endParaRPr lang="en-US" sz="1100" dirty="0"/>
          </a:p>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Database: </a:t>
            </a:r>
            <a:r>
              <a:rPr lang="en-US" sz="1100" dirty="0" err="1">
                <a:solidFill>
                  <a:srgbClr val="CBD5E1"/>
                </a:solidFill>
                <a:latin typeface="Calibri" pitchFamily="34" charset="0"/>
                <a:ea typeface="Calibri" pitchFamily="34" charset="-122"/>
                <a:cs typeface="Calibri" pitchFamily="34" charset="-120"/>
              </a:rPr>
              <a:t>SQlite</a:t>
            </a:r>
            <a:endParaRPr lang="en-US" sz="1100" dirty="0"/>
          </a:p>
          <a:p>
            <a:pPr marL="0" indent="0">
              <a:lnSpc>
                <a:spcPct val="140000"/>
              </a:lnSpc>
              <a:buNone/>
            </a:pPr>
            <a:r>
              <a:rPr lang="en-US" sz="1100" b="1" dirty="0">
                <a:solidFill>
                  <a:srgbClr val="FFFFFF"/>
                </a:solidFill>
                <a:latin typeface="Calibri" pitchFamily="34" charset="0"/>
                <a:ea typeface="Calibri" pitchFamily="34" charset="-122"/>
                <a:cs typeface="Calibri" pitchFamily="34" charset="-120"/>
              </a:rPr>
              <a:t>Deployment: </a:t>
            </a:r>
            <a:r>
              <a:rPr lang="en-US" sz="1100" dirty="0" err="1">
                <a:solidFill>
                  <a:srgbClr val="CBD5E1"/>
                </a:solidFill>
                <a:latin typeface="Calibri" pitchFamily="34" charset="0"/>
                <a:ea typeface="Calibri" pitchFamily="34" charset="-122"/>
                <a:cs typeface="Calibri" pitchFamily="34" charset="-120"/>
              </a:rPr>
              <a:t>Vercel</a:t>
            </a:r>
            <a:endParaRPr lang="en-US" sz="1100" dirty="0"/>
          </a:p>
        </p:txBody>
      </p:sp>
      <p:sp>
        <p:nvSpPr>
          <p:cNvPr id="9" name="Shape 6"/>
          <p:cNvSpPr/>
          <p:nvPr/>
        </p:nvSpPr>
        <p:spPr>
          <a:xfrm>
            <a:off x="4754880" y="1463040"/>
            <a:ext cx="3840480" cy="182880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0" name="Shape 7"/>
          <p:cNvSpPr/>
          <p:nvPr/>
        </p:nvSpPr>
        <p:spPr>
          <a:xfrm>
            <a:off x="4754880" y="1463040"/>
            <a:ext cx="54864" cy="1828800"/>
          </a:xfrm>
          <a:prstGeom prst="rect">
            <a:avLst/>
          </a:prstGeom>
          <a:solidFill>
            <a:srgbClr val="0D9488"/>
          </a:solidFill>
          <a:ln/>
        </p:spPr>
        <p:txBody>
          <a:bodyPr/>
          <a:lstStyle/>
          <a:p>
            <a:endParaRPr lang="en-US"/>
          </a:p>
        </p:txBody>
      </p:sp>
      <p:sp>
        <p:nvSpPr>
          <p:cNvPr id="11" name="Text 8"/>
          <p:cNvSpPr/>
          <p:nvPr/>
        </p:nvSpPr>
        <p:spPr>
          <a:xfrm>
            <a:off x="4983480" y="1554480"/>
            <a:ext cx="3474720" cy="320040"/>
          </a:xfrm>
          <a:prstGeom prst="rect">
            <a:avLst/>
          </a:prstGeom>
          <a:noFill/>
          <a:ln/>
        </p:spPr>
        <p:txBody>
          <a:bodyPr wrap="square" lIns="0" tIns="0" rIns="0" bIns="0" rtlCol="0" anchor="ctr"/>
          <a:lstStyle/>
          <a:p>
            <a:pPr marL="0" indent="0">
              <a:buNone/>
            </a:pPr>
            <a:r>
              <a:rPr lang="en-US" sz="1600" b="1" dirty="0">
                <a:solidFill>
                  <a:srgbClr val="0D9488"/>
                </a:solidFill>
                <a:latin typeface="Trebuchet MS" pitchFamily="34" charset="0"/>
                <a:ea typeface="Trebuchet MS" pitchFamily="34" charset="-122"/>
                <a:cs typeface="Trebuchet MS" pitchFamily="34" charset="-120"/>
              </a:rPr>
              <a:t>App Summary</a:t>
            </a:r>
            <a:endParaRPr lang="en-US" sz="1600" dirty="0"/>
          </a:p>
        </p:txBody>
      </p:sp>
      <p:sp>
        <p:nvSpPr>
          <p:cNvPr id="12" name="Text 9"/>
          <p:cNvSpPr/>
          <p:nvPr/>
        </p:nvSpPr>
        <p:spPr>
          <a:xfrm>
            <a:off x="4983480" y="1920240"/>
            <a:ext cx="3474720" cy="128016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ea typeface="Calibri" pitchFamily="34" charset="-122"/>
                <a:cs typeface="Calibri" pitchFamily="34" charset="-120"/>
              </a:rPr>
              <a:t>An app used to explain to engineers &amp; education professionals the ‘why’ and ‘how’ of a potential weeklong education unit. The ‘Stories’ feature contains slideshows on why this program might be good for students &amp; professionals. The ‘Design’ feature shows the interactive tools which compose the subsystems of the windmill fleet.</a:t>
            </a:r>
          </a:p>
        </p:txBody>
      </p:sp>
      <p:sp>
        <p:nvSpPr>
          <p:cNvPr id="13" name="Shape 10"/>
          <p:cNvSpPr/>
          <p:nvPr/>
        </p:nvSpPr>
        <p:spPr>
          <a:xfrm>
            <a:off x="548640" y="3520440"/>
            <a:ext cx="3840480" cy="12344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4" name="Shape 11"/>
          <p:cNvSpPr/>
          <p:nvPr/>
        </p:nvSpPr>
        <p:spPr>
          <a:xfrm>
            <a:off x="548640" y="3520440"/>
            <a:ext cx="54864" cy="1234440"/>
          </a:xfrm>
          <a:prstGeom prst="rect">
            <a:avLst/>
          </a:prstGeom>
          <a:solidFill>
            <a:srgbClr val="0D9488"/>
          </a:solidFill>
          <a:ln/>
        </p:spPr>
        <p:txBody>
          <a:bodyPr/>
          <a:lstStyle/>
          <a:p>
            <a:endParaRPr lang="en-US"/>
          </a:p>
        </p:txBody>
      </p:sp>
      <p:sp>
        <p:nvSpPr>
          <p:cNvPr id="15" name="Text 12"/>
          <p:cNvSpPr/>
          <p:nvPr/>
        </p:nvSpPr>
        <p:spPr>
          <a:xfrm>
            <a:off x="777240" y="3611880"/>
            <a:ext cx="3474720" cy="320040"/>
          </a:xfrm>
          <a:prstGeom prst="rect">
            <a:avLst/>
          </a:prstGeom>
          <a:noFill/>
          <a:ln/>
        </p:spPr>
        <p:txBody>
          <a:bodyPr wrap="square" lIns="0" tIns="0" rIns="0" bIns="0" rtlCol="0" anchor="ctr"/>
          <a:lstStyle/>
          <a:p>
            <a:pPr marL="0" indent="0">
              <a:buNone/>
            </a:pPr>
            <a:r>
              <a:rPr lang="en-US" sz="1600" b="1" dirty="0">
                <a:solidFill>
                  <a:srgbClr val="0D9488"/>
                </a:solidFill>
                <a:latin typeface="Trebuchet MS" pitchFamily="34" charset="0"/>
                <a:ea typeface="Trebuchet MS" pitchFamily="34" charset="-122"/>
                <a:cs typeface="Trebuchet MS" pitchFamily="34" charset="-120"/>
              </a:rPr>
              <a:t>User Roles / Personas</a:t>
            </a:r>
            <a:endParaRPr lang="en-US" sz="1600" dirty="0"/>
          </a:p>
        </p:txBody>
      </p:sp>
      <p:sp>
        <p:nvSpPr>
          <p:cNvPr id="16" name="Text 13"/>
          <p:cNvSpPr/>
          <p:nvPr/>
        </p:nvSpPr>
        <p:spPr>
          <a:xfrm>
            <a:off x="777240" y="3977640"/>
            <a:ext cx="3474720" cy="64008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ea typeface="Calibri" pitchFamily="34" charset="-122"/>
                <a:cs typeface="Calibri" pitchFamily="34" charset="-120"/>
              </a:rPr>
              <a:t>This app shall be public, no auth or concept of user.</a:t>
            </a:r>
            <a:endParaRPr lang="en-US" sz="1100" dirty="0"/>
          </a:p>
        </p:txBody>
      </p:sp>
      <p:sp>
        <p:nvSpPr>
          <p:cNvPr id="17" name="Shape 14"/>
          <p:cNvSpPr/>
          <p:nvPr/>
        </p:nvSpPr>
        <p:spPr>
          <a:xfrm>
            <a:off x="4754880" y="3520440"/>
            <a:ext cx="3840480" cy="12344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8" name="Shape 15"/>
          <p:cNvSpPr/>
          <p:nvPr/>
        </p:nvSpPr>
        <p:spPr>
          <a:xfrm>
            <a:off x="4754880" y="3520440"/>
            <a:ext cx="54864" cy="1234440"/>
          </a:xfrm>
          <a:prstGeom prst="rect">
            <a:avLst/>
          </a:prstGeom>
          <a:solidFill>
            <a:srgbClr val="0D9488"/>
          </a:solidFill>
          <a:ln/>
        </p:spPr>
        <p:txBody>
          <a:bodyPr/>
          <a:lstStyle/>
          <a:p>
            <a:endParaRPr lang="en-US"/>
          </a:p>
        </p:txBody>
      </p:sp>
      <p:sp>
        <p:nvSpPr>
          <p:cNvPr id="19" name="Text 16"/>
          <p:cNvSpPr/>
          <p:nvPr/>
        </p:nvSpPr>
        <p:spPr>
          <a:xfrm>
            <a:off x="4983480" y="3611880"/>
            <a:ext cx="3474720" cy="320040"/>
          </a:xfrm>
          <a:prstGeom prst="rect">
            <a:avLst/>
          </a:prstGeom>
          <a:noFill/>
          <a:ln/>
        </p:spPr>
        <p:txBody>
          <a:bodyPr wrap="square" lIns="0" tIns="0" rIns="0" bIns="0" rtlCol="0" anchor="ctr"/>
          <a:lstStyle/>
          <a:p>
            <a:pPr marL="0" indent="0">
              <a:buNone/>
            </a:pPr>
            <a:r>
              <a:rPr lang="en-US" sz="1600" b="1" dirty="0">
                <a:solidFill>
                  <a:srgbClr val="0D9488"/>
                </a:solidFill>
                <a:latin typeface="Trebuchet MS" pitchFamily="34" charset="0"/>
                <a:ea typeface="Trebuchet MS" pitchFamily="34" charset="-122"/>
                <a:cs typeface="Trebuchet MS" pitchFamily="34" charset="-120"/>
              </a:rPr>
              <a:t>Key Decisions Already Made</a:t>
            </a:r>
            <a:endParaRPr lang="en-US" sz="1600" dirty="0"/>
          </a:p>
        </p:txBody>
      </p:sp>
      <p:sp>
        <p:nvSpPr>
          <p:cNvPr id="20" name="Text 17"/>
          <p:cNvSpPr/>
          <p:nvPr/>
        </p:nvSpPr>
        <p:spPr>
          <a:xfrm>
            <a:off x="4983480" y="3977640"/>
            <a:ext cx="3474720" cy="64008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cs typeface="Calibri" pitchFamily="34" charset="-120"/>
              </a:rPr>
              <a:t>The existing home page and logic should not be overwritten. The HTTP API pattern has been established.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93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11480"/>
            <a:ext cx="411480" cy="411480"/>
          </a:xfrm>
          <a:prstGeom prst="rect">
            <a:avLst/>
          </a:prstGeom>
        </p:spPr>
      </p:pic>
      <p:sp>
        <p:nvSpPr>
          <p:cNvPr id="3" name="Text 0"/>
          <p:cNvSpPr/>
          <p:nvPr/>
        </p:nvSpPr>
        <p:spPr>
          <a:xfrm>
            <a:off x="1051560" y="320040"/>
            <a:ext cx="6400800" cy="5943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Navigation Map</a:t>
            </a:r>
            <a:endParaRPr lang="en-US" sz="3200" dirty="0"/>
          </a:p>
        </p:txBody>
      </p:sp>
      <p:sp>
        <p:nvSpPr>
          <p:cNvPr id="4" name="Text 1"/>
          <p:cNvSpPr/>
          <p:nvPr/>
        </p:nvSpPr>
        <p:spPr>
          <a:xfrm>
            <a:off x="548640" y="960120"/>
            <a:ext cx="7772400" cy="365760"/>
          </a:xfrm>
          <a:prstGeom prst="rect">
            <a:avLst/>
          </a:prstGeom>
          <a:noFill/>
          <a:ln/>
        </p:spPr>
        <p:txBody>
          <a:bodyPr wrap="square" lIns="0" tIns="0" rIns="0" bIns="0" rtlCol="0" anchor="ctr"/>
          <a:lstStyle/>
          <a:p>
            <a:pPr marL="0" indent="0">
              <a:buNone/>
            </a:pPr>
            <a:r>
              <a:rPr lang="en-US" sz="1300" i="1" dirty="0">
                <a:solidFill>
                  <a:srgbClr val="CBD5E1"/>
                </a:solidFill>
                <a:latin typeface="Calibri" pitchFamily="34" charset="0"/>
                <a:ea typeface="Calibri" pitchFamily="34" charset="-122"/>
                <a:cs typeface="Calibri" pitchFamily="34" charset="-120"/>
              </a:rPr>
              <a:t>Show how screens connect. Replace this with your own diagram or annotate below.</a:t>
            </a:r>
            <a:endParaRPr lang="en-US" sz="1300" dirty="0"/>
          </a:p>
        </p:txBody>
      </p:sp>
      <p:sp>
        <p:nvSpPr>
          <p:cNvPr id="5" name="Shape 2"/>
          <p:cNvSpPr/>
          <p:nvPr/>
        </p:nvSpPr>
        <p:spPr>
          <a:xfrm>
            <a:off x="3657600" y="1463040"/>
            <a:ext cx="1828800" cy="502920"/>
          </a:xfrm>
          <a:prstGeom prst="rect">
            <a:avLst/>
          </a:prstGeom>
          <a:solidFill>
            <a:srgbClr val="0D9488"/>
          </a:solidFill>
          <a:ln/>
        </p:spPr>
        <p:txBody>
          <a:bodyPr/>
          <a:lstStyle/>
          <a:p>
            <a:endParaRPr lang="en-US"/>
          </a:p>
        </p:txBody>
      </p:sp>
      <p:sp>
        <p:nvSpPr>
          <p:cNvPr id="6" name="Text 3"/>
          <p:cNvSpPr/>
          <p:nvPr/>
        </p:nvSpPr>
        <p:spPr>
          <a:xfrm>
            <a:off x="3657600" y="1463040"/>
            <a:ext cx="18288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Home  /</a:t>
            </a:r>
            <a:endParaRPr lang="en-US" sz="1300" dirty="0"/>
          </a:p>
        </p:txBody>
      </p:sp>
      <p:sp>
        <p:nvSpPr>
          <p:cNvPr id="7" name="Shape 4"/>
          <p:cNvSpPr/>
          <p:nvPr/>
        </p:nvSpPr>
        <p:spPr>
          <a:xfrm flipH="1">
            <a:off x="3200399" y="1737360"/>
            <a:ext cx="457191" cy="640080"/>
          </a:xfrm>
          <a:prstGeom prst="line">
            <a:avLst/>
          </a:prstGeom>
          <a:noFill/>
          <a:ln w="25400">
            <a:solidFill>
              <a:srgbClr val="CBD5E1"/>
            </a:solidFill>
            <a:prstDash val="solid"/>
          </a:ln>
        </p:spPr>
        <p:txBody>
          <a:bodyPr/>
          <a:lstStyle/>
          <a:p>
            <a:endParaRPr lang="en-US" dirty="0"/>
          </a:p>
        </p:txBody>
      </p:sp>
      <p:sp>
        <p:nvSpPr>
          <p:cNvPr id="8" name="Shape 5"/>
          <p:cNvSpPr/>
          <p:nvPr/>
        </p:nvSpPr>
        <p:spPr>
          <a:xfrm>
            <a:off x="2286000" y="2377440"/>
            <a:ext cx="1828800" cy="502920"/>
          </a:xfrm>
          <a:prstGeom prst="rect">
            <a:avLst/>
          </a:prstGeom>
          <a:solidFill>
            <a:srgbClr val="334155"/>
          </a:solidFill>
          <a:ln w="19050">
            <a:solidFill>
              <a:srgbClr val="0D9488"/>
            </a:solidFill>
            <a:prstDash val="solid"/>
          </a:ln>
        </p:spPr>
        <p:txBody>
          <a:bodyPr/>
          <a:lstStyle/>
          <a:p>
            <a:endParaRPr lang="en-US"/>
          </a:p>
        </p:txBody>
      </p:sp>
      <p:sp>
        <p:nvSpPr>
          <p:cNvPr id="9" name="Text 6"/>
          <p:cNvSpPr/>
          <p:nvPr/>
        </p:nvSpPr>
        <p:spPr>
          <a:xfrm>
            <a:off x="2286000" y="2377440"/>
            <a:ext cx="1828800" cy="5029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Stories  /stories</a:t>
            </a:r>
            <a:endParaRPr lang="en-US" sz="1200" dirty="0"/>
          </a:p>
        </p:txBody>
      </p:sp>
      <p:sp>
        <p:nvSpPr>
          <p:cNvPr id="10" name="Shape 7"/>
          <p:cNvSpPr/>
          <p:nvPr/>
        </p:nvSpPr>
        <p:spPr>
          <a:xfrm>
            <a:off x="3200400" y="2880360"/>
            <a:ext cx="0" cy="411480"/>
          </a:xfrm>
          <a:prstGeom prst="line">
            <a:avLst/>
          </a:prstGeom>
          <a:noFill/>
          <a:ln w="25400">
            <a:solidFill>
              <a:srgbClr val="CBD5E1"/>
            </a:solidFill>
            <a:prstDash val="solid"/>
          </a:ln>
        </p:spPr>
        <p:txBody>
          <a:bodyPr/>
          <a:lstStyle/>
          <a:p>
            <a:endParaRPr lang="en-US"/>
          </a:p>
        </p:txBody>
      </p:sp>
      <p:sp>
        <p:nvSpPr>
          <p:cNvPr id="11" name="Shape 8"/>
          <p:cNvSpPr/>
          <p:nvPr/>
        </p:nvSpPr>
        <p:spPr>
          <a:xfrm>
            <a:off x="2011680" y="3291840"/>
            <a:ext cx="2377440" cy="502920"/>
          </a:xfrm>
          <a:prstGeom prst="rect">
            <a:avLst/>
          </a:prstGeom>
          <a:solidFill>
            <a:srgbClr val="334155"/>
          </a:solidFill>
          <a:ln w="19050">
            <a:solidFill>
              <a:srgbClr val="0D9488"/>
            </a:solidFill>
            <a:prstDash val="solid"/>
          </a:ln>
        </p:spPr>
        <p:txBody>
          <a:bodyPr/>
          <a:lstStyle/>
          <a:p>
            <a:endParaRPr lang="en-US"/>
          </a:p>
        </p:txBody>
      </p:sp>
      <p:sp>
        <p:nvSpPr>
          <p:cNvPr id="12" name="Text 9"/>
          <p:cNvSpPr/>
          <p:nvPr/>
        </p:nvSpPr>
        <p:spPr>
          <a:xfrm>
            <a:off x="2011680" y="3291840"/>
            <a:ext cx="237744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Individual Story  /stories/:id</a:t>
            </a:r>
            <a:endParaRPr lang="en-US" sz="1100" dirty="0"/>
          </a:p>
        </p:txBody>
      </p:sp>
      <p:sp>
        <p:nvSpPr>
          <p:cNvPr id="13" name="Shape 10"/>
          <p:cNvSpPr/>
          <p:nvPr/>
        </p:nvSpPr>
        <p:spPr>
          <a:xfrm>
            <a:off x="5486400" y="1737360"/>
            <a:ext cx="457200" cy="640080"/>
          </a:xfrm>
          <a:prstGeom prst="line">
            <a:avLst/>
          </a:prstGeom>
          <a:noFill/>
          <a:ln w="25400">
            <a:solidFill>
              <a:srgbClr val="CBD5E1"/>
            </a:solidFill>
            <a:prstDash val="solid"/>
          </a:ln>
        </p:spPr>
        <p:txBody>
          <a:bodyPr/>
          <a:lstStyle/>
          <a:p>
            <a:endParaRPr lang="en-US"/>
          </a:p>
        </p:txBody>
      </p:sp>
      <p:sp>
        <p:nvSpPr>
          <p:cNvPr id="14" name="Shape 11"/>
          <p:cNvSpPr/>
          <p:nvPr/>
        </p:nvSpPr>
        <p:spPr>
          <a:xfrm>
            <a:off x="5029200" y="2377440"/>
            <a:ext cx="1828800" cy="502920"/>
          </a:xfrm>
          <a:prstGeom prst="rect">
            <a:avLst/>
          </a:prstGeom>
          <a:solidFill>
            <a:srgbClr val="334155"/>
          </a:solidFill>
          <a:ln w="19050">
            <a:solidFill>
              <a:srgbClr val="0D9488"/>
            </a:solidFill>
            <a:prstDash val="solid"/>
          </a:ln>
        </p:spPr>
        <p:txBody>
          <a:bodyPr/>
          <a:lstStyle/>
          <a:p>
            <a:endParaRPr lang="en-US"/>
          </a:p>
        </p:txBody>
      </p:sp>
      <p:sp>
        <p:nvSpPr>
          <p:cNvPr id="15" name="Text 12"/>
          <p:cNvSpPr/>
          <p:nvPr/>
        </p:nvSpPr>
        <p:spPr>
          <a:xfrm>
            <a:off x="5029200" y="2377440"/>
            <a:ext cx="1828800" cy="5029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Design  /design</a:t>
            </a:r>
            <a:endParaRPr lang="en-US" sz="1200" dirty="0"/>
          </a:p>
        </p:txBody>
      </p:sp>
      <p:sp>
        <p:nvSpPr>
          <p:cNvPr id="16" name="Shape 13"/>
          <p:cNvSpPr/>
          <p:nvPr/>
        </p:nvSpPr>
        <p:spPr>
          <a:xfrm>
            <a:off x="5943600" y="2880360"/>
            <a:ext cx="0" cy="411480"/>
          </a:xfrm>
          <a:prstGeom prst="line">
            <a:avLst/>
          </a:prstGeom>
          <a:noFill/>
          <a:ln w="25400">
            <a:solidFill>
              <a:srgbClr val="CBD5E1"/>
            </a:solidFill>
            <a:prstDash val="solid"/>
          </a:ln>
        </p:spPr>
        <p:txBody>
          <a:bodyPr/>
          <a:lstStyle/>
          <a:p>
            <a:endParaRPr lang="en-US"/>
          </a:p>
        </p:txBody>
      </p:sp>
      <p:sp>
        <p:nvSpPr>
          <p:cNvPr id="17" name="Shape 14"/>
          <p:cNvSpPr/>
          <p:nvPr/>
        </p:nvSpPr>
        <p:spPr>
          <a:xfrm>
            <a:off x="4572000" y="3291840"/>
            <a:ext cx="2743200" cy="502920"/>
          </a:xfrm>
          <a:prstGeom prst="rect">
            <a:avLst/>
          </a:prstGeom>
          <a:solidFill>
            <a:srgbClr val="334155"/>
          </a:solidFill>
          <a:ln w="19050">
            <a:solidFill>
              <a:srgbClr val="0D9488"/>
            </a:solidFill>
            <a:prstDash val="solid"/>
          </a:ln>
        </p:spPr>
        <p:txBody>
          <a:bodyPr/>
          <a:lstStyle/>
          <a:p>
            <a:endParaRPr lang="en-US"/>
          </a:p>
        </p:txBody>
      </p:sp>
      <p:sp>
        <p:nvSpPr>
          <p:cNvPr id="18" name="Text 15"/>
          <p:cNvSpPr/>
          <p:nvPr/>
        </p:nvSpPr>
        <p:spPr>
          <a:xfrm>
            <a:off x="4572000" y="3291840"/>
            <a:ext cx="274320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Subsystem Overview  /design/:id</a:t>
            </a:r>
            <a:endParaRPr lang="en-US" sz="1100" dirty="0"/>
          </a:p>
        </p:txBody>
      </p:sp>
      <p:sp>
        <p:nvSpPr>
          <p:cNvPr id="19" name="Shape 16"/>
          <p:cNvSpPr/>
          <p:nvPr/>
        </p:nvSpPr>
        <p:spPr>
          <a:xfrm>
            <a:off x="5943600" y="3794760"/>
            <a:ext cx="0" cy="411480"/>
          </a:xfrm>
          <a:prstGeom prst="line">
            <a:avLst/>
          </a:prstGeom>
          <a:noFill/>
          <a:ln w="25400">
            <a:solidFill>
              <a:srgbClr val="CBD5E1"/>
            </a:solidFill>
            <a:prstDash val="solid"/>
          </a:ln>
        </p:spPr>
        <p:txBody>
          <a:bodyPr/>
          <a:lstStyle/>
          <a:p>
            <a:endParaRPr lang="en-US"/>
          </a:p>
        </p:txBody>
      </p:sp>
      <p:sp>
        <p:nvSpPr>
          <p:cNvPr id="20" name="Shape 17"/>
          <p:cNvSpPr/>
          <p:nvPr/>
        </p:nvSpPr>
        <p:spPr>
          <a:xfrm>
            <a:off x="4389120" y="4206240"/>
            <a:ext cx="3108960" cy="502920"/>
          </a:xfrm>
          <a:prstGeom prst="rect">
            <a:avLst/>
          </a:prstGeom>
          <a:solidFill>
            <a:srgbClr val="334155"/>
          </a:solidFill>
          <a:ln w="19050">
            <a:solidFill>
              <a:srgbClr val="0D9488"/>
            </a:solidFill>
            <a:prstDash val="solid"/>
          </a:ln>
        </p:spPr>
        <p:txBody>
          <a:bodyPr/>
          <a:lstStyle/>
          <a:p>
            <a:endParaRPr lang="en-US"/>
          </a:p>
        </p:txBody>
      </p:sp>
      <p:sp>
        <p:nvSpPr>
          <p:cNvPr id="21" name="Text 18"/>
          <p:cNvSpPr/>
          <p:nvPr/>
        </p:nvSpPr>
        <p:spPr>
          <a:xfrm>
            <a:off x="4389120" y="4206240"/>
            <a:ext cx="310896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Subsystem Detail  /design/:id/detail</a:t>
            </a:r>
            <a:endParaRPr lang="en-US" sz="1100" dirty="0"/>
          </a:p>
        </p:txBody>
      </p:sp>
      <p:sp>
        <p:nvSpPr>
          <p:cNvPr id="22" name="Text 19"/>
          <p:cNvSpPr/>
          <p:nvPr/>
        </p:nvSpPr>
        <p:spPr>
          <a:xfrm>
            <a:off x="548641" y="4617720"/>
            <a:ext cx="2224540" cy="365760"/>
          </a:xfrm>
          <a:prstGeom prst="rect">
            <a:avLst/>
          </a:prstGeom>
          <a:noFill/>
          <a:ln/>
        </p:spPr>
        <p:txBody>
          <a:bodyPr wrap="square" lIns="0" tIns="0" rIns="0" bIns="0" rtlCol="0" anchor="ctr"/>
          <a:lstStyle/>
          <a:p>
            <a:pPr marL="0" indent="0">
              <a:buNone/>
            </a:pPr>
            <a:r>
              <a:rPr lang="en-US" sz="1000" i="1" dirty="0">
                <a:solidFill>
                  <a:srgbClr val="CBD5E1"/>
                </a:solidFill>
                <a:latin typeface="Calibri" pitchFamily="34" charset="0"/>
                <a:ea typeface="Calibri" pitchFamily="34" charset="-122"/>
                <a:cs typeface="Calibri" pitchFamily="34" charset="-120"/>
              </a:rPr>
              <a:t>All of the lines represent two-way flows. </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Home (Landing Page)</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1</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The user changes the speed of the wind. The interactions &amp; logic are already built in the page, in </a:t>
            </a:r>
            <a:r>
              <a:rPr lang="en-US" sz="900" i="1" dirty="0" err="1">
                <a:solidFill>
                  <a:srgbClr val="CBD5E1"/>
                </a:solidFill>
                <a:latin typeface="Calibri" pitchFamily="34" charset="0"/>
                <a:ea typeface="Calibri" pitchFamily="34" charset="-122"/>
                <a:cs typeface="Calibri" pitchFamily="34" charset="-120"/>
              </a:rPr>
              <a:t>page.tsx</a:t>
            </a:r>
            <a:r>
              <a:rPr lang="en-US" sz="900" i="1" dirty="0">
                <a:solidFill>
                  <a:srgbClr val="CBD5E1"/>
                </a:solidFill>
                <a:latin typeface="Calibri" pitchFamily="34" charset="0"/>
                <a:ea typeface="Calibri" pitchFamily="34" charset="-122"/>
                <a:cs typeface="Calibri" pitchFamily="34" charset="-120"/>
              </a:rPr>
              <a:t>.</a:t>
            </a:r>
            <a:endParaRPr lang="en-US" sz="9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p:cNvSpPr/>
          <p:nvPr/>
        </p:nvSpPr>
        <p:spPr>
          <a:xfrm>
            <a:off x="2651760"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Users adjust a sliding bar at the bottom of the screen (not pictured, exists on </a:t>
            </a:r>
            <a:r>
              <a:rPr lang="en-US" sz="900" i="1" dirty="0" err="1">
                <a:solidFill>
                  <a:srgbClr val="CBD5E1"/>
                </a:solidFill>
                <a:latin typeface="Calibri" pitchFamily="34" charset="0"/>
                <a:cs typeface="Calibri" pitchFamily="34" charset="-120"/>
              </a:rPr>
              <a:t>main.tsx</a:t>
            </a:r>
            <a:r>
              <a:rPr lang="en-US" sz="900" i="1" dirty="0">
                <a:solidFill>
                  <a:srgbClr val="CBD5E1"/>
                </a:solidFill>
                <a:latin typeface="Calibri" pitchFamily="34" charset="0"/>
                <a:cs typeface="Calibri" pitchFamily="34" charset="-120"/>
              </a:rPr>
              <a:t>)</a:t>
            </a:r>
            <a:endParaRPr lang="en-US" sz="900" dirty="0"/>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p:cNvSpPr/>
          <p:nvPr/>
        </p:nvSpPr>
        <p:spPr>
          <a:xfrm>
            <a:off x="4736592" y="4114800"/>
            <a:ext cx="1783080" cy="731520"/>
          </a:xfrm>
          <a:prstGeom prst="rect">
            <a:avLst/>
          </a:prstGeom>
          <a:noFill/>
          <a:ln/>
        </p:spPr>
        <p:txBody>
          <a:bodyPr wrap="square" lIns="0" tIns="0" rIns="0" bIns="0" rtlCol="0" anchor="t"/>
          <a:lstStyle/>
          <a:p>
            <a:r>
              <a:rPr lang="en-US" sz="900" i="1" dirty="0">
                <a:solidFill>
                  <a:srgbClr val="CBD5E1"/>
                </a:solidFill>
                <a:latin typeface="Calibri" pitchFamily="34" charset="0"/>
                <a:cs typeface="Calibri" pitchFamily="34" charset="-120"/>
              </a:rPr>
              <a:t>The data shown is already implemented in </a:t>
            </a:r>
            <a:r>
              <a:rPr lang="en-US" sz="900" i="1" dirty="0" err="1">
                <a:solidFill>
                  <a:srgbClr val="CBD5E1"/>
                </a:solidFill>
                <a:latin typeface="Calibri" pitchFamily="34" charset="0"/>
                <a:cs typeface="Calibri" pitchFamily="34" charset="-120"/>
              </a:rPr>
              <a:t>main.tsx</a:t>
            </a:r>
            <a:r>
              <a:rPr lang="en-US" sz="900" i="1" dirty="0">
                <a:solidFill>
                  <a:srgbClr val="CBD5E1"/>
                </a:solidFill>
                <a:latin typeface="Calibri" pitchFamily="34" charset="0"/>
                <a:cs typeface="Calibri" pitchFamily="34" charset="-120"/>
              </a:rPr>
              <a:t>.</a:t>
            </a:r>
            <a:endParaRPr lang="en-US" sz="9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No loading. There are background illustrations. No concept of state necessary.</a:t>
            </a:r>
            <a:endParaRPr lang="en-US" sz="900" dirty="0"/>
          </a:p>
        </p:txBody>
      </p:sp>
      <p:sp>
        <p:nvSpPr>
          <p:cNvPr id="27" name="Rounded Rectangle 26">
            <a:extLst>
              <a:ext uri="{FF2B5EF4-FFF2-40B4-BE49-F238E27FC236}">
                <a16:creationId xmlns:a16="http://schemas.microsoft.com/office/drawing/2014/main" id="{10BDF5E0-2ABB-03C6-CC62-32D5AC9320F4}"/>
              </a:ext>
            </a:extLst>
          </p:cNvPr>
          <p:cNvSpPr/>
          <p:nvPr/>
        </p:nvSpPr>
        <p:spPr>
          <a:xfrm>
            <a:off x="6139372" y="1280160"/>
            <a:ext cx="68205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Design</a:t>
            </a:r>
          </a:p>
        </p:txBody>
      </p:sp>
      <p:sp>
        <p:nvSpPr>
          <p:cNvPr id="28" name="Rounded Rectangle 27">
            <a:extLst>
              <a:ext uri="{FF2B5EF4-FFF2-40B4-BE49-F238E27FC236}">
                <a16:creationId xmlns:a16="http://schemas.microsoft.com/office/drawing/2014/main" id="{6338E975-DEFC-AB6F-B95A-39E4072D0ECC}"/>
              </a:ext>
            </a:extLst>
          </p:cNvPr>
          <p:cNvSpPr/>
          <p:nvPr/>
        </p:nvSpPr>
        <p:spPr>
          <a:xfrm>
            <a:off x="6139372" y="1650084"/>
            <a:ext cx="68205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About</a:t>
            </a:r>
          </a:p>
        </p:txBody>
      </p:sp>
      <p:sp>
        <p:nvSpPr>
          <p:cNvPr id="31" name="Rounded Rectangle 30">
            <a:extLst>
              <a:ext uri="{FF2B5EF4-FFF2-40B4-BE49-F238E27FC236}">
                <a16:creationId xmlns:a16="http://schemas.microsoft.com/office/drawing/2014/main" id="{53595D5D-3BB2-C012-FB08-EF6F90E46119}"/>
              </a:ext>
            </a:extLst>
          </p:cNvPr>
          <p:cNvSpPr/>
          <p:nvPr/>
        </p:nvSpPr>
        <p:spPr>
          <a:xfrm>
            <a:off x="646526" y="1280160"/>
            <a:ext cx="68205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Design</a:t>
            </a:r>
          </a:p>
        </p:txBody>
      </p:sp>
      <p:sp>
        <p:nvSpPr>
          <p:cNvPr id="32" name="Rounded Rectangle 31">
            <a:extLst>
              <a:ext uri="{FF2B5EF4-FFF2-40B4-BE49-F238E27FC236}">
                <a16:creationId xmlns:a16="http://schemas.microsoft.com/office/drawing/2014/main" id="{3EA4A276-A0BD-1F4B-8E20-8B6382A7F5F0}"/>
              </a:ext>
            </a:extLst>
          </p:cNvPr>
          <p:cNvSpPr/>
          <p:nvPr/>
        </p:nvSpPr>
        <p:spPr>
          <a:xfrm>
            <a:off x="646526" y="1650084"/>
            <a:ext cx="68205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About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Stories</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/stories</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2</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User clicks one of two buttons</a:t>
            </a:r>
            <a:endParaRPr lang="en-US" sz="9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p:cNvSpPr/>
          <p:nvPr/>
        </p:nvSpPr>
        <p:spPr>
          <a:xfrm>
            <a:off x="2651760" y="4114800"/>
            <a:ext cx="1783080" cy="731520"/>
          </a:xfrm>
          <a:prstGeom prst="rect">
            <a:avLst/>
          </a:prstGeom>
          <a:noFill/>
          <a:ln/>
        </p:spPr>
        <p:txBody>
          <a:bodyPr wrap="square" lIns="0" tIns="0" rIns="0" bIns="0" rtlCol="0" anchor="t"/>
          <a:lstStyle/>
          <a:p>
            <a:r>
              <a:rPr lang="en-US" sz="900" i="1" dirty="0">
                <a:solidFill>
                  <a:srgbClr val="CBD5E1"/>
                </a:solidFill>
                <a:latin typeface="Calibri" pitchFamily="34" charset="0"/>
                <a:cs typeface="Calibri" pitchFamily="34" charset="-120"/>
              </a:rPr>
              <a:t>Buttons lead to individual stories (/stories/:id)</a:t>
            </a:r>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Two buttons</a:t>
            </a:r>
            <a:endParaRPr lang="en-US" sz="9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None</a:t>
            </a:r>
            <a:endParaRPr lang="en-US" sz="900" dirty="0"/>
          </a:p>
        </p:txBody>
      </p:sp>
      <p:sp>
        <p:nvSpPr>
          <p:cNvPr id="27" name="Rounded Rectangle 26">
            <a:extLst>
              <a:ext uri="{FF2B5EF4-FFF2-40B4-BE49-F238E27FC236}">
                <a16:creationId xmlns:a16="http://schemas.microsoft.com/office/drawing/2014/main" id="{3BE73954-A1CD-483A-ECF1-F6C0051648B6}"/>
              </a:ext>
            </a:extLst>
          </p:cNvPr>
          <p:cNvSpPr/>
          <p:nvPr/>
        </p:nvSpPr>
        <p:spPr>
          <a:xfrm>
            <a:off x="2423160" y="1939498"/>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 Students</a:t>
            </a:r>
          </a:p>
        </p:txBody>
      </p:sp>
      <p:sp>
        <p:nvSpPr>
          <p:cNvPr id="28" name="Rounded Rectangle 27">
            <a:extLst>
              <a:ext uri="{FF2B5EF4-FFF2-40B4-BE49-F238E27FC236}">
                <a16:creationId xmlns:a16="http://schemas.microsoft.com/office/drawing/2014/main" id="{59F5F0C4-C7C7-A421-22DA-B0149DA30DF9}"/>
              </a:ext>
            </a:extLst>
          </p:cNvPr>
          <p:cNvSpPr/>
          <p:nvPr/>
        </p:nvSpPr>
        <p:spPr>
          <a:xfrm>
            <a:off x="2423160" y="2309422"/>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 Professionals</a:t>
            </a:r>
          </a:p>
        </p:txBody>
      </p:sp>
      <p:sp>
        <p:nvSpPr>
          <p:cNvPr id="29" name="Rounded Rectangle 28">
            <a:extLst>
              <a:ext uri="{FF2B5EF4-FFF2-40B4-BE49-F238E27FC236}">
                <a16:creationId xmlns:a16="http://schemas.microsoft.com/office/drawing/2014/main" id="{9F101323-F342-67AC-7190-3226043663A2}"/>
              </a:ext>
            </a:extLst>
          </p:cNvPr>
          <p:cNvSpPr/>
          <p:nvPr/>
        </p:nvSpPr>
        <p:spPr>
          <a:xfrm>
            <a:off x="6652938" y="1948457"/>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 Students</a:t>
            </a:r>
          </a:p>
        </p:txBody>
      </p:sp>
      <p:sp>
        <p:nvSpPr>
          <p:cNvPr id="30" name="Rounded Rectangle 29">
            <a:extLst>
              <a:ext uri="{FF2B5EF4-FFF2-40B4-BE49-F238E27FC236}">
                <a16:creationId xmlns:a16="http://schemas.microsoft.com/office/drawing/2014/main" id="{9081DDD9-0D8A-66BA-B9C8-80D9DDE9908A}"/>
              </a:ext>
            </a:extLst>
          </p:cNvPr>
          <p:cNvSpPr/>
          <p:nvPr/>
        </p:nvSpPr>
        <p:spPr>
          <a:xfrm>
            <a:off x="6652938" y="2318381"/>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 Professionals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Individual Story (Template)</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/stories/:id</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3</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dirty="0"/>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This page mimics Instagram story functionality. The number of bars at the top, correspond to the number of slides in this story. A slide is the unique combination of top text, bottom text, and image.</a:t>
            </a:r>
            <a:endParaRPr lang="en-US" sz="9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p:cNvSpPr/>
          <p:nvPr/>
        </p:nvSpPr>
        <p:spPr>
          <a:xfrm>
            <a:off x="2651760"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Top text moves left to right, slowly. Bottom text moves right to left. Slow zoom in on whatever image is shown. Click (tap) advances slides. Click (tap) and hold stops the slide. Each slide has 6 seconds. </a:t>
            </a:r>
            <a:endParaRPr lang="en-US" sz="900" dirty="0"/>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Each slide has its unique top text, bottom text, and image.</a:t>
            </a:r>
            <a:endParaRPr lang="en-US" sz="9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dirty="0"/>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The page will need to know which slide is currently showing, so it can go forward &amp; back from that slide.</a:t>
            </a:r>
            <a:br>
              <a:rPr lang="en-US" sz="900" i="1" dirty="0">
                <a:solidFill>
                  <a:srgbClr val="CBD5E1"/>
                </a:solidFill>
                <a:latin typeface="Calibri" pitchFamily="34" charset="0"/>
                <a:cs typeface="Calibri" pitchFamily="34" charset="-120"/>
              </a:rPr>
            </a:br>
            <a:r>
              <a:rPr lang="en-US" sz="900" i="1" dirty="0">
                <a:solidFill>
                  <a:srgbClr val="CBD5E1"/>
                </a:solidFill>
                <a:latin typeface="Calibri" pitchFamily="34" charset="0"/>
                <a:cs typeface="Calibri" pitchFamily="34" charset="-120"/>
              </a:rPr>
              <a:t>When the slideshow ends, go ‘back’ to the Stories page.</a:t>
            </a:r>
            <a:endParaRPr lang="en-US" sz="900" dirty="0"/>
          </a:p>
        </p:txBody>
      </p:sp>
      <p:cxnSp>
        <p:nvCxnSpPr>
          <p:cNvPr id="28" name="Straight Connector 27">
            <a:extLst>
              <a:ext uri="{FF2B5EF4-FFF2-40B4-BE49-F238E27FC236}">
                <a16:creationId xmlns:a16="http://schemas.microsoft.com/office/drawing/2014/main" id="{069739AC-10B3-C8A2-C385-D1EB025BE240}"/>
              </a:ext>
            </a:extLst>
          </p:cNvPr>
          <p:cNvCxnSpPr>
            <a:cxnSpLocks/>
          </p:cNvCxnSpPr>
          <p:nvPr/>
        </p:nvCxnSpPr>
        <p:spPr>
          <a:xfrm>
            <a:off x="753533" y="1354667"/>
            <a:ext cx="105833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CF459AF-7F2C-73C4-3781-4EBE674083EE}"/>
              </a:ext>
            </a:extLst>
          </p:cNvPr>
          <p:cNvCxnSpPr>
            <a:cxnSpLocks/>
          </p:cNvCxnSpPr>
          <p:nvPr/>
        </p:nvCxnSpPr>
        <p:spPr>
          <a:xfrm>
            <a:off x="2026581" y="1354667"/>
            <a:ext cx="103090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3978856-2B07-45F9-5394-B10C56DBF92F}"/>
              </a:ext>
            </a:extLst>
          </p:cNvPr>
          <p:cNvCxnSpPr>
            <a:cxnSpLocks/>
          </p:cNvCxnSpPr>
          <p:nvPr/>
        </p:nvCxnSpPr>
        <p:spPr>
          <a:xfrm>
            <a:off x="3298952" y="1354667"/>
            <a:ext cx="105833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0EBB489-C5C3-2506-37E6-9CA5BD8AB1D7}"/>
              </a:ext>
            </a:extLst>
          </p:cNvPr>
          <p:cNvCxnSpPr>
            <a:cxnSpLocks/>
          </p:cNvCxnSpPr>
          <p:nvPr/>
        </p:nvCxnSpPr>
        <p:spPr>
          <a:xfrm>
            <a:off x="4572000" y="1354667"/>
            <a:ext cx="103090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387868B-A3E7-598D-6216-0E92C5F39B6E}"/>
              </a:ext>
            </a:extLst>
          </p:cNvPr>
          <p:cNvCxnSpPr>
            <a:cxnSpLocks/>
          </p:cNvCxnSpPr>
          <p:nvPr/>
        </p:nvCxnSpPr>
        <p:spPr>
          <a:xfrm>
            <a:off x="6119029" y="1354667"/>
            <a:ext cx="47379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BC7BF20-D780-128A-F5A2-0A82D4BB9430}"/>
              </a:ext>
            </a:extLst>
          </p:cNvPr>
          <p:cNvCxnSpPr>
            <a:cxnSpLocks/>
          </p:cNvCxnSpPr>
          <p:nvPr/>
        </p:nvCxnSpPr>
        <p:spPr>
          <a:xfrm>
            <a:off x="6748272" y="1354667"/>
            <a:ext cx="49377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38B98E2-DBBB-E17A-AF1A-CF9687F18EAC}"/>
              </a:ext>
            </a:extLst>
          </p:cNvPr>
          <p:cNvCxnSpPr>
            <a:cxnSpLocks/>
          </p:cNvCxnSpPr>
          <p:nvPr/>
        </p:nvCxnSpPr>
        <p:spPr>
          <a:xfrm>
            <a:off x="7408672" y="1354667"/>
            <a:ext cx="49377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85405E7-DDF4-02A6-6F29-940100B1D40A}"/>
              </a:ext>
            </a:extLst>
          </p:cNvPr>
          <p:cNvCxnSpPr>
            <a:cxnSpLocks/>
          </p:cNvCxnSpPr>
          <p:nvPr/>
        </p:nvCxnSpPr>
        <p:spPr>
          <a:xfrm>
            <a:off x="8035205" y="1354667"/>
            <a:ext cx="49377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9211C37-1C29-37C3-588A-060852D87D2F}"/>
              </a:ext>
            </a:extLst>
          </p:cNvPr>
          <p:cNvSpPr txBox="1"/>
          <p:nvPr/>
        </p:nvSpPr>
        <p:spPr>
          <a:xfrm>
            <a:off x="1143000" y="1670888"/>
            <a:ext cx="1337733" cy="369332"/>
          </a:xfrm>
          <a:prstGeom prst="rect">
            <a:avLst/>
          </a:prstGeom>
          <a:noFill/>
        </p:spPr>
        <p:txBody>
          <a:bodyPr wrap="square" rtlCol="0">
            <a:spAutoFit/>
          </a:bodyPr>
          <a:lstStyle/>
          <a:p>
            <a:r>
              <a:rPr lang="en-US" dirty="0"/>
              <a:t>Top text</a:t>
            </a:r>
          </a:p>
        </p:txBody>
      </p:sp>
      <p:sp>
        <p:nvSpPr>
          <p:cNvPr id="59" name="TextBox 58">
            <a:extLst>
              <a:ext uri="{FF2B5EF4-FFF2-40B4-BE49-F238E27FC236}">
                <a16:creationId xmlns:a16="http://schemas.microsoft.com/office/drawing/2014/main" id="{5FD9FC8F-8793-25E0-6F7F-34F807157A10}"/>
              </a:ext>
            </a:extLst>
          </p:cNvPr>
          <p:cNvSpPr txBox="1"/>
          <p:nvPr/>
        </p:nvSpPr>
        <p:spPr>
          <a:xfrm>
            <a:off x="4191000" y="2938763"/>
            <a:ext cx="1437132" cy="369332"/>
          </a:xfrm>
          <a:prstGeom prst="rect">
            <a:avLst/>
          </a:prstGeom>
          <a:noFill/>
        </p:spPr>
        <p:txBody>
          <a:bodyPr wrap="square" rtlCol="0">
            <a:spAutoFit/>
          </a:bodyPr>
          <a:lstStyle/>
          <a:p>
            <a:r>
              <a:rPr lang="en-US" dirty="0"/>
              <a:t>Bottom text</a:t>
            </a:r>
          </a:p>
        </p:txBody>
      </p:sp>
      <p:sp>
        <p:nvSpPr>
          <p:cNvPr id="60" name="TextBox 59">
            <a:extLst>
              <a:ext uri="{FF2B5EF4-FFF2-40B4-BE49-F238E27FC236}">
                <a16:creationId xmlns:a16="http://schemas.microsoft.com/office/drawing/2014/main" id="{23121E05-BE5A-0340-FEDD-1959063FC4BB}"/>
              </a:ext>
            </a:extLst>
          </p:cNvPr>
          <p:cNvSpPr txBox="1"/>
          <p:nvPr/>
        </p:nvSpPr>
        <p:spPr>
          <a:xfrm>
            <a:off x="6061117" y="1670888"/>
            <a:ext cx="1337733" cy="369332"/>
          </a:xfrm>
          <a:prstGeom prst="rect">
            <a:avLst/>
          </a:prstGeom>
          <a:noFill/>
        </p:spPr>
        <p:txBody>
          <a:bodyPr wrap="square" rtlCol="0">
            <a:spAutoFit/>
          </a:bodyPr>
          <a:lstStyle/>
          <a:p>
            <a:r>
              <a:rPr lang="en-US" dirty="0"/>
              <a:t>Top text</a:t>
            </a:r>
          </a:p>
        </p:txBody>
      </p:sp>
      <p:sp>
        <p:nvSpPr>
          <p:cNvPr id="61" name="TextBox 60">
            <a:extLst>
              <a:ext uri="{FF2B5EF4-FFF2-40B4-BE49-F238E27FC236}">
                <a16:creationId xmlns:a16="http://schemas.microsoft.com/office/drawing/2014/main" id="{60CBBC6F-FCDD-D4C5-B31B-38463637DF98}"/>
              </a:ext>
            </a:extLst>
          </p:cNvPr>
          <p:cNvSpPr txBox="1"/>
          <p:nvPr/>
        </p:nvSpPr>
        <p:spPr>
          <a:xfrm>
            <a:off x="7354486" y="2938763"/>
            <a:ext cx="1437132" cy="369332"/>
          </a:xfrm>
          <a:prstGeom prst="rect">
            <a:avLst/>
          </a:prstGeom>
          <a:noFill/>
        </p:spPr>
        <p:txBody>
          <a:bodyPr wrap="square" rtlCol="0">
            <a:spAutoFit/>
          </a:bodyPr>
          <a:lstStyle/>
          <a:p>
            <a:r>
              <a:rPr lang="en-US" dirty="0"/>
              <a:t>Bottom text</a:t>
            </a:r>
          </a:p>
        </p:txBody>
      </p:sp>
      <p:pic>
        <p:nvPicPr>
          <p:cNvPr id="63" name="Graphic 62" descr="Airplane with solid fill">
            <a:extLst>
              <a:ext uri="{FF2B5EF4-FFF2-40B4-BE49-F238E27FC236}">
                <a16:creationId xmlns:a16="http://schemas.microsoft.com/office/drawing/2014/main" id="{9E5F20E7-41B3-20F1-C27A-45D732EC02C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51760" y="2011680"/>
            <a:ext cx="914400" cy="914400"/>
          </a:xfrm>
          <a:prstGeom prst="rect">
            <a:avLst/>
          </a:prstGeom>
        </p:spPr>
      </p:pic>
      <p:pic>
        <p:nvPicPr>
          <p:cNvPr id="64" name="Graphic 63" descr="Airplane with solid fill">
            <a:extLst>
              <a:ext uri="{FF2B5EF4-FFF2-40B4-BE49-F238E27FC236}">
                <a16:creationId xmlns:a16="http://schemas.microsoft.com/office/drawing/2014/main" id="{1975027B-D27E-4D5D-B923-14DA3A76C6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18376" y="2021170"/>
            <a:ext cx="914400" cy="914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Design</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/design</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4</a:t>
            </a:r>
            <a:endParaRPr lang="en-US" sz="1100" dirty="0"/>
          </a:p>
        </p:txBody>
      </p:sp>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457200" y="3840480"/>
            <a:ext cx="36576" cy="1097280"/>
          </a:xfrm>
          <a:prstGeom prst="rect">
            <a:avLst/>
          </a:prstGeom>
          <a:solidFill>
            <a:srgbClr val="0D9488"/>
          </a:solidFill>
          <a:ln/>
        </p:spPr>
        <p:txBody>
          <a:bodyPr/>
          <a:lstStyle/>
          <a:p>
            <a:endParaRPr lang="en-US"/>
          </a:p>
        </p:txBody>
      </p:sp>
      <p:sp>
        <p:nvSpPr>
          <p:cNvPr id="13" name="Text 10"/>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5" name="Shape 12"/>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9" name="Shape 16"/>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p:cNvSpPr/>
          <p:nvPr/>
        </p:nvSpPr>
        <p:spPr>
          <a:xfrm>
            <a:off x="4626864" y="3840480"/>
            <a:ext cx="36576" cy="1097280"/>
          </a:xfrm>
          <a:prstGeom prst="rect">
            <a:avLst/>
          </a:prstGeom>
          <a:solidFill>
            <a:srgbClr val="0D9488"/>
          </a:solidFill>
          <a:ln/>
        </p:spPr>
        <p:txBody>
          <a:bodyPr/>
          <a:lstStyle/>
          <a:p>
            <a:endParaRPr lang="en-US"/>
          </a:p>
        </p:txBody>
      </p:sp>
      <p:sp>
        <p:nvSpPr>
          <p:cNvPr id="21" name="Text 18"/>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63" name="Rounded Rectangle 62">
            <a:extLst>
              <a:ext uri="{FF2B5EF4-FFF2-40B4-BE49-F238E27FC236}">
                <a16:creationId xmlns:a16="http://schemas.microsoft.com/office/drawing/2014/main" id="{6A02A8A4-1807-1E8E-01B1-76BA21708738}"/>
              </a:ext>
            </a:extLst>
          </p:cNvPr>
          <p:cNvSpPr/>
          <p:nvPr/>
        </p:nvSpPr>
        <p:spPr>
          <a:xfrm>
            <a:off x="2423160" y="1939498"/>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Blades</a:t>
            </a:r>
          </a:p>
        </p:txBody>
      </p:sp>
      <p:sp>
        <p:nvSpPr>
          <p:cNvPr id="1024" name="Rounded Rectangle 1023">
            <a:extLst>
              <a:ext uri="{FF2B5EF4-FFF2-40B4-BE49-F238E27FC236}">
                <a16:creationId xmlns:a16="http://schemas.microsoft.com/office/drawing/2014/main" id="{ABCAD5C3-88EE-9811-1BE5-17962AABC69C}"/>
              </a:ext>
            </a:extLst>
          </p:cNvPr>
          <p:cNvSpPr/>
          <p:nvPr/>
        </p:nvSpPr>
        <p:spPr>
          <a:xfrm>
            <a:off x="2423160" y="2309422"/>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Drivetrain</a:t>
            </a:r>
          </a:p>
        </p:txBody>
      </p:sp>
      <p:sp>
        <p:nvSpPr>
          <p:cNvPr id="1025" name="Rounded Rectangle 1024">
            <a:extLst>
              <a:ext uri="{FF2B5EF4-FFF2-40B4-BE49-F238E27FC236}">
                <a16:creationId xmlns:a16="http://schemas.microsoft.com/office/drawing/2014/main" id="{5F54B43D-2345-062F-8879-FC332CEBCCD4}"/>
              </a:ext>
            </a:extLst>
          </p:cNvPr>
          <p:cNvSpPr/>
          <p:nvPr/>
        </p:nvSpPr>
        <p:spPr>
          <a:xfrm>
            <a:off x="6652938" y="1948457"/>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Blades</a:t>
            </a:r>
          </a:p>
        </p:txBody>
      </p:sp>
      <p:sp>
        <p:nvSpPr>
          <p:cNvPr id="1027" name="Rounded Rectangle 1026">
            <a:extLst>
              <a:ext uri="{FF2B5EF4-FFF2-40B4-BE49-F238E27FC236}">
                <a16:creationId xmlns:a16="http://schemas.microsoft.com/office/drawing/2014/main" id="{D5C69F79-15EB-690A-0120-0857B652398A}"/>
              </a:ext>
            </a:extLst>
          </p:cNvPr>
          <p:cNvSpPr/>
          <p:nvPr/>
        </p:nvSpPr>
        <p:spPr>
          <a:xfrm>
            <a:off x="6652938" y="2318381"/>
            <a:ext cx="132452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Drivetrain</a:t>
            </a:r>
          </a:p>
        </p:txBody>
      </p:sp>
      <p:sp>
        <p:nvSpPr>
          <p:cNvPr id="1032" name="Text 11">
            <a:extLst>
              <a:ext uri="{FF2B5EF4-FFF2-40B4-BE49-F238E27FC236}">
                <a16:creationId xmlns:a16="http://schemas.microsoft.com/office/drawing/2014/main" id="{93F8AE5B-86D6-3065-14F8-E5735E307BC4}"/>
              </a:ext>
            </a:extLst>
          </p:cNvPr>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User clicks one of two buttons</a:t>
            </a:r>
            <a:endParaRPr lang="en-US" sz="900" dirty="0"/>
          </a:p>
        </p:txBody>
      </p:sp>
      <p:sp>
        <p:nvSpPr>
          <p:cNvPr id="1033" name="Text 15">
            <a:extLst>
              <a:ext uri="{FF2B5EF4-FFF2-40B4-BE49-F238E27FC236}">
                <a16:creationId xmlns:a16="http://schemas.microsoft.com/office/drawing/2014/main" id="{2DBED1A9-9538-0E9B-12E1-78800B34BC6B}"/>
              </a:ext>
            </a:extLst>
          </p:cNvPr>
          <p:cNvSpPr/>
          <p:nvPr/>
        </p:nvSpPr>
        <p:spPr>
          <a:xfrm>
            <a:off x="2651760" y="4114800"/>
            <a:ext cx="1783080" cy="731520"/>
          </a:xfrm>
          <a:prstGeom prst="rect">
            <a:avLst/>
          </a:prstGeom>
          <a:noFill/>
          <a:ln/>
        </p:spPr>
        <p:txBody>
          <a:bodyPr wrap="square" lIns="0" tIns="0" rIns="0" bIns="0" rtlCol="0" anchor="t"/>
          <a:lstStyle/>
          <a:p>
            <a:r>
              <a:rPr lang="en-US" sz="900" i="1" dirty="0">
                <a:solidFill>
                  <a:srgbClr val="CBD5E1"/>
                </a:solidFill>
                <a:latin typeface="Calibri" pitchFamily="34" charset="0"/>
                <a:cs typeface="Calibri" pitchFamily="34" charset="-120"/>
              </a:rPr>
              <a:t>Buttons lead to individual stories (/design/:</a:t>
            </a:r>
            <a:r>
              <a:rPr lang="en-US" sz="900" i="1" dirty="0" err="1">
                <a:solidFill>
                  <a:srgbClr val="CBD5E1"/>
                </a:solidFill>
                <a:latin typeface="Calibri" pitchFamily="34" charset="0"/>
                <a:cs typeface="Calibri" pitchFamily="34" charset="-120"/>
              </a:rPr>
              <a:t>subsystemId</a:t>
            </a:r>
            <a:r>
              <a:rPr lang="en-US" sz="900" i="1" dirty="0">
                <a:solidFill>
                  <a:srgbClr val="CBD5E1"/>
                </a:solidFill>
                <a:latin typeface="Calibri" pitchFamily="34" charset="0"/>
                <a:cs typeface="Calibri" pitchFamily="34" charset="-120"/>
              </a:rPr>
              <a:t>)</a:t>
            </a:r>
          </a:p>
        </p:txBody>
      </p:sp>
      <p:sp>
        <p:nvSpPr>
          <p:cNvPr id="1034" name="Text 19">
            <a:extLst>
              <a:ext uri="{FF2B5EF4-FFF2-40B4-BE49-F238E27FC236}">
                <a16:creationId xmlns:a16="http://schemas.microsoft.com/office/drawing/2014/main" id="{2992FE63-18C1-DCE8-8923-5EFD82BA3C23}"/>
              </a:ext>
            </a:extLst>
          </p:cNvPr>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Two buttons</a:t>
            </a:r>
            <a:endParaRPr lang="en-US" sz="900" dirty="0"/>
          </a:p>
        </p:txBody>
      </p:sp>
      <p:sp>
        <p:nvSpPr>
          <p:cNvPr id="1035" name="Text 23">
            <a:extLst>
              <a:ext uri="{FF2B5EF4-FFF2-40B4-BE49-F238E27FC236}">
                <a16:creationId xmlns:a16="http://schemas.microsoft.com/office/drawing/2014/main" id="{7091A094-1505-8E0D-E32E-360FBE0677DF}"/>
              </a:ext>
            </a:extLst>
          </p:cNvPr>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None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DE0F3-0E13-7E78-59AF-CDFBA5719F8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4BC1349-1D2B-F2F9-BD5A-87C8148BFD19}"/>
              </a:ext>
            </a:extLst>
          </p:cNvPr>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a:extLst>
              <a:ext uri="{FF2B5EF4-FFF2-40B4-BE49-F238E27FC236}">
                <a16:creationId xmlns:a16="http://schemas.microsoft.com/office/drawing/2014/main" id="{AD8C59CB-E52D-75BF-9C8A-B572C1446BC8}"/>
              </a:ext>
            </a:extLst>
          </p:cNvPr>
          <p:cNvPicPr>
            <a:picLocks noChangeAspect="1"/>
          </p:cNvPicPr>
          <p:nvPr/>
        </p:nvPicPr>
        <p:blipFill>
          <a:blip r:embed="rId3"/>
          <a:stretch>
            <a:fillRect/>
          </a:stretch>
        </p:blipFill>
        <p:spPr>
          <a:xfrm>
            <a:off x="457200" y="164592"/>
            <a:ext cx="365760" cy="365760"/>
          </a:xfrm>
          <a:prstGeom prst="rect">
            <a:avLst/>
          </a:prstGeom>
        </p:spPr>
      </p:pic>
      <p:sp>
        <p:nvSpPr>
          <p:cNvPr id="7" name="Shape 4">
            <a:extLst>
              <a:ext uri="{FF2B5EF4-FFF2-40B4-BE49-F238E27FC236}">
                <a16:creationId xmlns:a16="http://schemas.microsoft.com/office/drawing/2014/main" id="{BEF498C4-A61A-3601-A07B-F8012950F9BB}"/>
              </a:ext>
            </a:extLst>
          </p:cNvPr>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a:p>
        </p:txBody>
      </p:sp>
      <p:sp>
        <p:nvSpPr>
          <p:cNvPr id="8" name="Text 5">
            <a:extLst>
              <a:ext uri="{FF2B5EF4-FFF2-40B4-BE49-F238E27FC236}">
                <a16:creationId xmlns:a16="http://schemas.microsoft.com/office/drawing/2014/main" id="{569D9BCA-0C49-80B8-0A87-DC12EEA2915C}"/>
              </a:ext>
            </a:extLst>
          </p:cNvPr>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a:extLst>
              <a:ext uri="{FF2B5EF4-FFF2-40B4-BE49-F238E27FC236}">
                <a16:creationId xmlns:a16="http://schemas.microsoft.com/office/drawing/2014/main" id="{C227C1DA-55B5-6804-BB13-FD6267FEFF76}"/>
              </a:ext>
            </a:extLst>
          </p:cNvPr>
          <p:cNvSpPr/>
          <p:nvPr/>
        </p:nvSpPr>
        <p:spPr>
          <a:xfrm>
            <a:off x="5943600" y="1005840"/>
            <a:ext cx="2743200" cy="2651760"/>
          </a:xfrm>
          <a:prstGeom prst="rect">
            <a:avLst/>
          </a:prstGeom>
          <a:solidFill>
            <a:srgbClr val="FFFFFF"/>
          </a:solidFill>
          <a:ln w="19050">
            <a:solidFill>
              <a:srgbClr val="94A3B8"/>
            </a:solidFill>
            <a:prstDash val="dash"/>
          </a:ln>
        </p:spPr>
        <p:txBody>
          <a:bodyPr/>
          <a:lstStyle/>
          <a:p>
            <a:endParaRPr lang="en-US"/>
          </a:p>
        </p:txBody>
      </p:sp>
      <p:sp>
        <p:nvSpPr>
          <p:cNvPr id="10" name="Text 7">
            <a:extLst>
              <a:ext uri="{FF2B5EF4-FFF2-40B4-BE49-F238E27FC236}">
                <a16:creationId xmlns:a16="http://schemas.microsoft.com/office/drawing/2014/main" id="{4BDA89A6-5DDA-1B93-A98F-39A03A84C688}"/>
              </a:ext>
            </a:extLst>
          </p:cNvPr>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a:extLst>
              <a:ext uri="{FF2B5EF4-FFF2-40B4-BE49-F238E27FC236}">
                <a16:creationId xmlns:a16="http://schemas.microsoft.com/office/drawing/2014/main" id="{646ABCAB-4E7C-0E9E-DFCA-FE405EF2F434}"/>
              </a:ext>
            </a:extLst>
          </p:cNvPr>
          <p:cNvSpPr/>
          <p:nvPr/>
        </p:nvSpPr>
        <p:spPr>
          <a:xfrm>
            <a:off x="457200"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a:extLst>
              <a:ext uri="{FF2B5EF4-FFF2-40B4-BE49-F238E27FC236}">
                <a16:creationId xmlns:a16="http://schemas.microsoft.com/office/drawing/2014/main" id="{9D07E1D9-F3D0-44A2-47E2-506B56F9B4E0}"/>
              </a:ext>
            </a:extLst>
          </p:cNvPr>
          <p:cNvSpPr/>
          <p:nvPr/>
        </p:nvSpPr>
        <p:spPr>
          <a:xfrm>
            <a:off x="457200" y="3840480"/>
            <a:ext cx="36576" cy="1097280"/>
          </a:xfrm>
          <a:prstGeom prst="rect">
            <a:avLst/>
          </a:prstGeom>
          <a:solidFill>
            <a:srgbClr val="0D9488"/>
          </a:solidFill>
          <a:ln/>
        </p:spPr>
        <p:txBody>
          <a:bodyPr/>
          <a:lstStyle/>
          <a:p>
            <a:endParaRPr lang="en-US"/>
          </a:p>
        </p:txBody>
      </p:sp>
      <p:sp>
        <p:nvSpPr>
          <p:cNvPr id="13" name="Text 10">
            <a:extLst>
              <a:ext uri="{FF2B5EF4-FFF2-40B4-BE49-F238E27FC236}">
                <a16:creationId xmlns:a16="http://schemas.microsoft.com/office/drawing/2014/main" id="{2B83AA78-C722-7A0E-2EEA-4A7E3AF3BAE9}"/>
              </a:ext>
            </a:extLst>
          </p:cNvPr>
          <p:cNvSpPr/>
          <p:nvPr/>
        </p:nvSpPr>
        <p:spPr>
          <a:xfrm>
            <a:off x="566928"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a:extLst>
              <a:ext uri="{FF2B5EF4-FFF2-40B4-BE49-F238E27FC236}">
                <a16:creationId xmlns:a16="http://schemas.microsoft.com/office/drawing/2014/main" id="{A8E0E6EE-FE2E-420D-5B1E-E7D989CFD004}"/>
              </a:ext>
            </a:extLst>
          </p:cNvPr>
          <p:cNvSpPr/>
          <p:nvPr/>
        </p:nvSpPr>
        <p:spPr>
          <a:xfrm>
            <a:off x="566928"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The user inputs the number of blades and uses the slider to control the animation of blades &amp; the dotted line on the chart to the right. Calculated values are output to the yellow boxes.</a:t>
            </a:r>
            <a:endParaRPr lang="en-US" sz="900" dirty="0"/>
          </a:p>
        </p:txBody>
      </p:sp>
      <p:sp>
        <p:nvSpPr>
          <p:cNvPr id="15" name="Shape 12">
            <a:extLst>
              <a:ext uri="{FF2B5EF4-FFF2-40B4-BE49-F238E27FC236}">
                <a16:creationId xmlns:a16="http://schemas.microsoft.com/office/drawing/2014/main" id="{D413518D-A574-2A59-55C0-9EFED36446C5}"/>
              </a:ext>
            </a:extLst>
          </p:cNvPr>
          <p:cNvSpPr/>
          <p:nvPr/>
        </p:nvSpPr>
        <p:spPr>
          <a:xfrm>
            <a:off x="2542032"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a:extLst>
              <a:ext uri="{FF2B5EF4-FFF2-40B4-BE49-F238E27FC236}">
                <a16:creationId xmlns:a16="http://schemas.microsoft.com/office/drawing/2014/main" id="{030217BD-607C-4892-FE64-B6F34446BD95}"/>
              </a:ext>
            </a:extLst>
          </p:cNvPr>
          <p:cNvSpPr/>
          <p:nvPr/>
        </p:nvSpPr>
        <p:spPr>
          <a:xfrm>
            <a:off x="2542032" y="3840480"/>
            <a:ext cx="36576" cy="1097280"/>
          </a:xfrm>
          <a:prstGeom prst="rect">
            <a:avLst/>
          </a:prstGeom>
          <a:solidFill>
            <a:srgbClr val="0D9488"/>
          </a:solidFill>
          <a:ln/>
        </p:spPr>
        <p:txBody>
          <a:bodyPr/>
          <a:lstStyle/>
          <a:p>
            <a:endParaRPr lang="en-US"/>
          </a:p>
        </p:txBody>
      </p:sp>
      <p:sp>
        <p:nvSpPr>
          <p:cNvPr id="17" name="Text 14">
            <a:extLst>
              <a:ext uri="{FF2B5EF4-FFF2-40B4-BE49-F238E27FC236}">
                <a16:creationId xmlns:a16="http://schemas.microsoft.com/office/drawing/2014/main" id="{C8018B0E-813F-075F-E403-0E07578CB8A3}"/>
              </a:ext>
            </a:extLst>
          </p:cNvPr>
          <p:cNvSpPr/>
          <p:nvPr/>
        </p:nvSpPr>
        <p:spPr>
          <a:xfrm>
            <a:off x="2651760"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Key Interactions</a:t>
            </a:r>
            <a:endParaRPr lang="en-US" sz="1000" dirty="0"/>
          </a:p>
        </p:txBody>
      </p:sp>
      <p:sp>
        <p:nvSpPr>
          <p:cNvPr id="18" name="Text 15">
            <a:extLst>
              <a:ext uri="{FF2B5EF4-FFF2-40B4-BE49-F238E27FC236}">
                <a16:creationId xmlns:a16="http://schemas.microsoft.com/office/drawing/2014/main" id="{364ADB73-BF11-5A16-59DB-3AF80AC18D09}"/>
              </a:ext>
            </a:extLst>
          </p:cNvPr>
          <p:cNvSpPr/>
          <p:nvPr/>
        </p:nvSpPr>
        <p:spPr>
          <a:xfrm>
            <a:off x="2651760"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Moving the slider</a:t>
            </a:r>
          </a:p>
          <a:p>
            <a:pPr marL="0" indent="0">
              <a:buNone/>
            </a:pPr>
            <a:r>
              <a:rPr lang="en-US" sz="900" i="1" dirty="0">
                <a:solidFill>
                  <a:srgbClr val="CBD5E1"/>
                </a:solidFill>
                <a:latin typeface="Calibri" pitchFamily="34" charset="0"/>
                <a:cs typeface="Calibri" pitchFamily="34" charset="-120"/>
              </a:rPr>
              <a:t>Inputting the number of blades, creates equally spaced blades on the turbine rotor.</a:t>
            </a:r>
            <a:br>
              <a:rPr lang="en-US" sz="900" i="1" dirty="0">
                <a:solidFill>
                  <a:srgbClr val="CBD5E1"/>
                </a:solidFill>
                <a:latin typeface="Calibri" pitchFamily="34" charset="0"/>
                <a:cs typeface="Calibri" pitchFamily="34" charset="-120"/>
              </a:rPr>
            </a:br>
            <a:r>
              <a:rPr lang="en-US" sz="900" i="1" dirty="0">
                <a:solidFill>
                  <a:srgbClr val="CBD5E1"/>
                </a:solidFill>
                <a:latin typeface="Calibri" pitchFamily="34" charset="0"/>
                <a:cs typeface="Calibri" pitchFamily="34" charset="-120"/>
              </a:rPr>
              <a:t>Back to fleet goes to home. Blade design goes to </a:t>
            </a:r>
            <a:endParaRPr lang="en-US" sz="900" dirty="0"/>
          </a:p>
        </p:txBody>
      </p:sp>
      <p:sp>
        <p:nvSpPr>
          <p:cNvPr id="19" name="Shape 16">
            <a:extLst>
              <a:ext uri="{FF2B5EF4-FFF2-40B4-BE49-F238E27FC236}">
                <a16:creationId xmlns:a16="http://schemas.microsoft.com/office/drawing/2014/main" id="{C7D5B43C-9D58-F5A2-8D42-F6B3B59A7BC6}"/>
              </a:ext>
            </a:extLst>
          </p:cNvPr>
          <p:cNvSpPr/>
          <p:nvPr/>
        </p:nvSpPr>
        <p:spPr>
          <a:xfrm>
            <a:off x="4626864"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0" name="Shape 17">
            <a:extLst>
              <a:ext uri="{FF2B5EF4-FFF2-40B4-BE49-F238E27FC236}">
                <a16:creationId xmlns:a16="http://schemas.microsoft.com/office/drawing/2014/main" id="{E2B6DDA1-6249-7A8F-42A3-D5EA7572A69D}"/>
              </a:ext>
            </a:extLst>
          </p:cNvPr>
          <p:cNvSpPr/>
          <p:nvPr/>
        </p:nvSpPr>
        <p:spPr>
          <a:xfrm>
            <a:off x="4626864" y="3840480"/>
            <a:ext cx="36576" cy="1097280"/>
          </a:xfrm>
          <a:prstGeom prst="rect">
            <a:avLst/>
          </a:prstGeom>
          <a:solidFill>
            <a:srgbClr val="0D9488"/>
          </a:solidFill>
          <a:ln/>
        </p:spPr>
        <p:txBody>
          <a:bodyPr/>
          <a:lstStyle/>
          <a:p>
            <a:endParaRPr lang="en-US"/>
          </a:p>
        </p:txBody>
      </p:sp>
      <p:sp>
        <p:nvSpPr>
          <p:cNvPr id="21" name="Text 18">
            <a:extLst>
              <a:ext uri="{FF2B5EF4-FFF2-40B4-BE49-F238E27FC236}">
                <a16:creationId xmlns:a16="http://schemas.microsoft.com/office/drawing/2014/main" id="{DB308481-5419-5385-499A-AAC78C18DEF9}"/>
              </a:ext>
            </a:extLst>
          </p:cNvPr>
          <p:cNvSpPr/>
          <p:nvPr/>
        </p:nvSpPr>
        <p:spPr>
          <a:xfrm>
            <a:off x="4736592"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a:extLst>
              <a:ext uri="{FF2B5EF4-FFF2-40B4-BE49-F238E27FC236}">
                <a16:creationId xmlns:a16="http://schemas.microsoft.com/office/drawing/2014/main" id="{6A525D80-2DBD-DBB5-A8C2-EF8CF39B69A5}"/>
              </a:ext>
            </a:extLst>
          </p:cNvPr>
          <p:cNvSpPr/>
          <p:nvPr/>
        </p:nvSpPr>
        <p:spPr>
          <a:xfrm>
            <a:off x="4736592"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Text data is: weight, cost, avg output, efficiency. The chart is also interactive, x-axis is wind speed and y-axis is power generated.</a:t>
            </a:r>
            <a:endParaRPr lang="en-US" sz="900" dirty="0"/>
          </a:p>
        </p:txBody>
      </p:sp>
      <p:sp>
        <p:nvSpPr>
          <p:cNvPr id="23" name="Shape 20">
            <a:extLst>
              <a:ext uri="{FF2B5EF4-FFF2-40B4-BE49-F238E27FC236}">
                <a16:creationId xmlns:a16="http://schemas.microsoft.com/office/drawing/2014/main" id="{83FC98E6-E31C-65BD-98F6-7D8FF3F5EE66}"/>
              </a:ext>
            </a:extLst>
          </p:cNvPr>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4" name="Shape 21">
            <a:extLst>
              <a:ext uri="{FF2B5EF4-FFF2-40B4-BE49-F238E27FC236}">
                <a16:creationId xmlns:a16="http://schemas.microsoft.com/office/drawing/2014/main" id="{7242D5AD-16C0-BFAB-D5AA-500C1EE14DBF}"/>
              </a:ext>
            </a:extLst>
          </p:cNvPr>
          <p:cNvSpPr/>
          <p:nvPr/>
        </p:nvSpPr>
        <p:spPr>
          <a:xfrm>
            <a:off x="6711696" y="3840480"/>
            <a:ext cx="36576" cy="1097280"/>
          </a:xfrm>
          <a:prstGeom prst="rect">
            <a:avLst/>
          </a:prstGeom>
          <a:solidFill>
            <a:srgbClr val="0D9488"/>
          </a:solidFill>
          <a:ln/>
        </p:spPr>
        <p:txBody>
          <a:bodyPr/>
          <a:lstStyle/>
          <a:p>
            <a:endParaRPr lang="en-US"/>
          </a:p>
        </p:txBody>
      </p:sp>
      <p:sp>
        <p:nvSpPr>
          <p:cNvPr id="25" name="Text 22">
            <a:extLst>
              <a:ext uri="{FF2B5EF4-FFF2-40B4-BE49-F238E27FC236}">
                <a16:creationId xmlns:a16="http://schemas.microsoft.com/office/drawing/2014/main" id="{F3B204CE-D4D9-BDB7-4740-6167470DE4C4}"/>
              </a:ext>
            </a:extLst>
          </p:cNvPr>
          <p:cNvSpPr/>
          <p:nvPr/>
        </p:nvSpPr>
        <p:spPr>
          <a:xfrm>
            <a:off x="6821424" y="388620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a:extLst>
              <a:ext uri="{FF2B5EF4-FFF2-40B4-BE49-F238E27FC236}">
                <a16:creationId xmlns:a16="http://schemas.microsoft.com/office/drawing/2014/main" id="{F72B22DD-93C8-E13E-08CE-878B83AA311F}"/>
              </a:ext>
            </a:extLst>
          </p:cNvPr>
          <p:cNvSpPr/>
          <p:nvPr/>
        </p:nvSpPr>
        <p:spPr>
          <a:xfrm>
            <a:off x="6821424" y="4114800"/>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ea typeface="Calibri" pitchFamily="34" charset="-122"/>
                <a:cs typeface="Calibri" pitchFamily="34" charset="-120"/>
              </a:rPr>
              <a:t>Number of blades drives the weight, cost, avg output, and efficiency output values. The slider changes the animation on the blades and on the chart.</a:t>
            </a:r>
            <a:endParaRPr lang="en-US" sz="900" dirty="0"/>
          </a:p>
        </p:txBody>
      </p:sp>
      <p:sp>
        <p:nvSpPr>
          <p:cNvPr id="27" name="Rounded Rectangle 26">
            <a:extLst>
              <a:ext uri="{FF2B5EF4-FFF2-40B4-BE49-F238E27FC236}">
                <a16:creationId xmlns:a16="http://schemas.microsoft.com/office/drawing/2014/main" id="{2CBFDF5C-73B6-F2EF-3211-F3CE362351D6}"/>
              </a:ext>
            </a:extLst>
          </p:cNvPr>
          <p:cNvSpPr/>
          <p:nvPr/>
        </p:nvSpPr>
        <p:spPr>
          <a:xfrm>
            <a:off x="646526" y="1280160"/>
            <a:ext cx="101691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Back to Design</a:t>
            </a:r>
          </a:p>
        </p:txBody>
      </p:sp>
      <p:sp>
        <p:nvSpPr>
          <p:cNvPr id="28" name="Rounded Rectangle 27">
            <a:extLst>
              <a:ext uri="{FF2B5EF4-FFF2-40B4-BE49-F238E27FC236}">
                <a16:creationId xmlns:a16="http://schemas.microsoft.com/office/drawing/2014/main" id="{82249DF5-457E-8396-277C-361E786DF21D}"/>
              </a:ext>
            </a:extLst>
          </p:cNvPr>
          <p:cNvSpPr/>
          <p:nvPr/>
        </p:nvSpPr>
        <p:spPr>
          <a:xfrm>
            <a:off x="1740057" y="1280160"/>
            <a:ext cx="838551"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Blade Design</a:t>
            </a:r>
          </a:p>
        </p:txBody>
      </p:sp>
      <p:sp>
        <p:nvSpPr>
          <p:cNvPr id="29" name="Rounded Rectangle 28">
            <a:extLst>
              <a:ext uri="{FF2B5EF4-FFF2-40B4-BE49-F238E27FC236}">
                <a16:creationId xmlns:a16="http://schemas.microsoft.com/office/drawing/2014/main" id="{4DE43B11-31EC-DC80-E481-B16DD099A5A7}"/>
              </a:ext>
            </a:extLst>
          </p:cNvPr>
          <p:cNvSpPr/>
          <p:nvPr/>
        </p:nvSpPr>
        <p:spPr>
          <a:xfrm>
            <a:off x="6166793" y="1307592"/>
            <a:ext cx="838549"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Back to Fleet</a:t>
            </a:r>
          </a:p>
        </p:txBody>
      </p:sp>
      <p:sp>
        <p:nvSpPr>
          <p:cNvPr id="30" name="Rounded Rectangle 29">
            <a:extLst>
              <a:ext uri="{FF2B5EF4-FFF2-40B4-BE49-F238E27FC236}">
                <a16:creationId xmlns:a16="http://schemas.microsoft.com/office/drawing/2014/main" id="{F1140298-C3C3-56ED-5933-C5E1FC523532}"/>
              </a:ext>
            </a:extLst>
          </p:cNvPr>
          <p:cNvSpPr/>
          <p:nvPr/>
        </p:nvSpPr>
        <p:spPr>
          <a:xfrm>
            <a:off x="7162449" y="1307592"/>
            <a:ext cx="1177233"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Blade Cross-Section</a:t>
            </a:r>
          </a:p>
        </p:txBody>
      </p:sp>
      <p:sp>
        <p:nvSpPr>
          <p:cNvPr id="32" name="Rounded Rectangle 31">
            <a:extLst>
              <a:ext uri="{FF2B5EF4-FFF2-40B4-BE49-F238E27FC236}">
                <a16:creationId xmlns:a16="http://schemas.microsoft.com/office/drawing/2014/main" id="{7965BFDE-3958-F942-C813-7FB60519497A}"/>
              </a:ext>
            </a:extLst>
          </p:cNvPr>
          <p:cNvSpPr/>
          <p:nvPr/>
        </p:nvSpPr>
        <p:spPr>
          <a:xfrm>
            <a:off x="1224280" y="3263686"/>
            <a:ext cx="274320" cy="26232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3</a:t>
            </a:r>
          </a:p>
        </p:txBody>
      </p:sp>
      <p:sp>
        <p:nvSpPr>
          <p:cNvPr id="33" name="TextBox 32">
            <a:extLst>
              <a:ext uri="{FF2B5EF4-FFF2-40B4-BE49-F238E27FC236}">
                <a16:creationId xmlns:a16="http://schemas.microsoft.com/office/drawing/2014/main" id="{F88C5C40-1F1D-1A7C-2BE9-624265A2487A}"/>
              </a:ext>
            </a:extLst>
          </p:cNvPr>
          <p:cNvSpPr txBox="1"/>
          <p:nvPr/>
        </p:nvSpPr>
        <p:spPr>
          <a:xfrm>
            <a:off x="566928" y="3277824"/>
            <a:ext cx="703072" cy="215444"/>
          </a:xfrm>
          <a:prstGeom prst="rect">
            <a:avLst/>
          </a:prstGeom>
          <a:noFill/>
        </p:spPr>
        <p:txBody>
          <a:bodyPr wrap="square" rtlCol="0">
            <a:spAutoFit/>
          </a:bodyPr>
          <a:lstStyle/>
          <a:p>
            <a:r>
              <a:rPr lang="en-US" sz="800" dirty="0"/>
              <a:t># of blades:</a:t>
            </a:r>
          </a:p>
        </p:txBody>
      </p:sp>
      <p:sp>
        <p:nvSpPr>
          <p:cNvPr id="35" name="TextBox 34">
            <a:extLst>
              <a:ext uri="{FF2B5EF4-FFF2-40B4-BE49-F238E27FC236}">
                <a16:creationId xmlns:a16="http://schemas.microsoft.com/office/drawing/2014/main" id="{0BDBD2E1-98DB-33AB-4646-6295B54FCA09}"/>
              </a:ext>
            </a:extLst>
          </p:cNvPr>
          <p:cNvSpPr txBox="1"/>
          <p:nvPr/>
        </p:nvSpPr>
        <p:spPr>
          <a:xfrm>
            <a:off x="646525" y="1932311"/>
            <a:ext cx="838549" cy="769441"/>
          </a:xfrm>
          <a:prstGeom prst="rect">
            <a:avLst/>
          </a:prstGeom>
          <a:noFill/>
        </p:spPr>
        <p:txBody>
          <a:bodyPr wrap="square" rtlCol="0">
            <a:spAutoFit/>
          </a:bodyPr>
          <a:lstStyle/>
          <a:p>
            <a:pPr algn="r"/>
            <a:r>
              <a:rPr lang="en-US" sz="1100" dirty="0"/>
              <a:t>weight:</a:t>
            </a:r>
          </a:p>
          <a:p>
            <a:pPr algn="r"/>
            <a:r>
              <a:rPr lang="en-US" sz="1100" dirty="0"/>
              <a:t>cost:</a:t>
            </a:r>
          </a:p>
          <a:p>
            <a:pPr algn="r"/>
            <a:r>
              <a:rPr lang="en-US" sz="1100" dirty="0"/>
              <a:t>avg output:</a:t>
            </a:r>
          </a:p>
          <a:p>
            <a:pPr algn="r"/>
            <a:r>
              <a:rPr lang="en-US" sz="1100" dirty="0"/>
              <a:t>efficiency:</a:t>
            </a:r>
          </a:p>
        </p:txBody>
      </p:sp>
      <p:sp>
        <p:nvSpPr>
          <p:cNvPr id="36" name="Rounded Rectangle 35">
            <a:extLst>
              <a:ext uri="{FF2B5EF4-FFF2-40B4-BE49-F238E27FC236}">
                <a16:creationId xmlns:a16="http://schemas.microsoft.com/office/drawing/2014/main" id="{02F826DD-359E-1881-BC78-2AAE7D205254}"/>
              </a:ext>
            </a:extLst>
          </p:cNvPr>
          <p:cNvSpPr/>
          <p:nvPr/>
        </p:nvSpPr>
        <p:spPr>
          <a:xfrm>
            <a:off x="1498600" y="1998133"/>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37" name="Rounded Rectangle 36">
            <a:extLst>
              <a:ext uri="{FF2B5EF4-FFF2-40B4-BE49-F238E27FC236}">
                <a16:creationId xmlns:a16="http://schemas.microsoft.com/office/drawing/2014/main" id="{D17CBB0F-3EE6-062C-BC91-4D2683B2BA54}"/>
              </a:ext>
            </a:extLst>
          </p:cNvPr>
          <p:cNvSpPr/>
          <p:nvPr/>
        </p:nvSpPr>
        <p:spPr>
          <a:xfrm>
            <a:off x="1498600" y="2179011"/>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38" name="Rounded Rectangle 37">
            <a:extLst>
              <a:ext uri="{FF2B5EF4-FFF2-40B4-BE49-F238E27FC236}">
                <a16:creationId xmlns:a16="http://schemas.microsoft.com/office/drawing/2014/main" id="{5B8316EC-0040-7F65-833E-F151DDBCC7D1}"/>
              </a:ext>
            </a:extLst>
          </p:cNvPr>
          <p:cNvSpPr/>
          <p:nvPr/>
        </p:nvSpPr>
        <p:spPr>
          <a:xfrm>
            <a:off x="1498600" y="2360418"/>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39" name="Rounded Rectangle 38">
            <a:extLst>
              <a:ext uri="{FF2B5EF4-FFF2-40B4-BE49-F238E27FC236}">
                <a16:creationId xmlns:a16="http://schemas.microsoft.com/office/drawing/2014/main" id="{0E03DE8D-D963-2B22-C82E-2D47F1D4E63D}"/>
              </a:ext>
            </a:extLst>
          </p:cNvPr>
          <p:cNvSpPr/>
          <p:nvPr/>
        </p:nvSpPr>
        <p:spPr>
          <a:xfrm>
            <a:off x="1498600" y="2541825"/>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pic>
        <p:nvPicPr>
          <p:cNvPr id="40" name="Picture 39">
            <a:extLst>
              <a:ext uri="{FF2B5EF4-FFF2-40B4-BE49-F238E27FC236}">
                <a16:creationId xmlns:a16="http://schemas.microsoft.com/office/drawing/2014/main" id="{F0E766DD-28BA-765C-07D1-EADAA51C7541}"/>
              </a:ext>
            </a:extLst>
          </p:cNvPr>
          <p:cNvPicPr>
            <a:picLocks noChangeAspect="1"/>
          </p:cNvPicPr>
          <p:nvPr/>
        </p:nvPicPr>
        <p:blipFill>
          <a:blip r:embed="rId4"/>
          <a:stretch>
            <a:fillRect/>
          </a:stretch>
        </p:blipFill>
        <p:spPr>
          <a:xfrm>
            <a:off x="2234367" y="1692176"/>
            <a:ext cx="1552795" cy="1249709"/>
          </a:xfrm>
          <a:prstGeom prst="rect">
            <a:avLst/>
          </a:prstGeom>
        </p:spPr>
      </p:pic>
      <p:pic>
        <p:nvPicPr>
          <p:cNvPr id="41" name="Picture 40">
            <a:extLst>
              <a:ext uri="{FF2B5EF4-FFF2-40B4-BE49-F238E27FC236}">
                <a16:creationId xmlns:a16="http://schemas.microsoft.com/office/drawing/2014/main" id="{24B5D412-274B-9D46-67EF-E184D66E4744}"/>
              </a:ext>
            </a:extLst>
          </p:cNvPr>
          <p:cNvPicPr>
            <a:picLocks noChangeAspect="1"/>
          </p:cNvPicPr>
          <p:nvPr/>
        </p:nvPicPr>
        <p:blipFill>
          <a:blip r:embed="rId5"/>
          <a:stretch>
            <a:fillRect/>
          </a:stretch>
        </p:blipFill>
        <p:spPr>
          <a:xfrm>
            <a:off x="3285066" y="3088718"/>
            <a:ext cx="1747225" cy="437296"/>
          </a:xfrm>
          <a:prstGeom prst="rect">
            <a:avLst/>
          </a:prstGeom>
        </p:spPr>
      </p:pic>
      <p:pic>
        <p:nvPicPr>
          <p:cNvPr id="1026" name="Picture 2" descr="Typical wind turbine power curve : the turbine begins to operate at the...  | Download Scientific Diagram">
            <a:extLst>
              <a:ext uri="{FF2B5EF4-FFF2-40B4-BE49-F238E27FC236}">
                <a16:creationId xmlns:a16="http://schemas.microsoft.com/office/drawing/2014/main" id="{8188D3FD-49A0-2F6D-1ADB-E6D2F0C9C0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7684" y="1685682"/>
            <a:ext cx="1488203" cy="134947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Typical wind turbine power curve : the turbine begins to operate at the...  | Download Scientific Diagram">
            <a:extLst>
              <a:ext uri="{FF2B5EF4-FFF2-40B4-BE49-F238E27FC236}">
                <a16:creationId xmlns:a16="http://schemas.microsoft.com/office/drawing/2014/main" id="{B3D1AF42-975C-8F8D-2F5E-FFA1B9F8D1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2621" y="1774295"/>
            <a:ext cx="1044853" cy="94745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A7FE2FD7-4CF6-B1EE-003F-F58B8BF48420}"/>
              </a:ext>
            </a:extLst>
          </p:cNvPr>
          <p:cNvPicPr>
            <a:picLocks noChangeAspect="1"/>
          </p:cNvPicPr>
          <p:nvPr/>
        </p:nvPicPr>
        <p:blipFill>
          <a:blip r:embed="rId4"/>
          <a:stretch>
            <a:fillRect/>
          </a:stretch>
        </p:blipFill>
        <p:spPr>
          <a:xfrm>
            <a:off x="6109494" y="1774295"/>
            <a:ext cx="1177233" cy="947452"/>
          </a:xfrm>
          <a:prstGeom prst="rect">
            <a:avLst/>
          </a:prstGeom>
        </p:spPr>
      </p:pic>
      <p:sp>
        <p:nvSpPr>
          <p:cNvPr id="45" name="Rounded Rectangle 44">
            <a:extLst>
              <a:ext uri="{FF2B5EF4-FFF2-40B4-BE49-F238E27FC236}">
                <a16:creationId xmlns:a16="http://schemas.microsoft.com/office/drawing/2014/main" id="{7C91D3D1-8AF6-B0A0-8B14-60B6FE260321}"/>
              </a:ext>
            </a:extLst>
          </p:cNvPr>
          <p:cNvSpPr/>
          <p:nvPr/>
        </p:nvSpPr>
        <p:spPr>
          <a:xfrm>
            <a:off x="6550194" y="2840528"/>
            <a:ext cx="274320" cy="280391"/>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3</a:t>
            </a:r>
          </a:p>
        </p:txBody>
      </p:sp>
      <p:sp>
        <p:nvSpPr>
          <p:cNvPr id="46" name="TextBox 45">
            <a:extLst>
              <a:ext uri="{FF2B5EF4-FFF2-40B4-BE49-F238E27FC236}">
                <a16:creationId xmlns:a16="http://schemas.microsoft.com/office/drawing/2014/main" id="{133D6692-EC5E-E5D4-7430-2FAE902BAF79}"/>
              </a:ext>
            </a:extLst>
          </p:cNvPr>
          <p:cNvSpPr txBox="1"/>
          <p:nvPr/>
        </p:nvSpPr>
        <p:spPr>
          <a:xfrm>
            <a:off x="5955652" y="2872729"/>
            <a:ext cx="703072" cy="215444"/>
          </a:xfrm>
          <a:prstGeom prst="rect">
            <a:avLst/>
          </a:prstGeom>
          <a:noFill/>
        </p:spPr>
        <p:txBody>
          <a:bodyPr wrap="square" rtlCol="0">
            <a:spAutoFit/>
          </a:bodyPr>
          <a:lstStyle/>
          <a:p>
            <a:r>
              <a:rPr lang="en-US" sz="800" dirty="0"/>
              <a:t># of blades:</a:t>
            </a:r>
          </a:p>
        </p:txBody>
      </p:sp>
      <p:pic>
        <p:nvPicPr>
          <p:cNvPr id="47" name="Picture 46">
            <a:extLst>
              <a:ext uri="{FF2B5EF4-FFF2-40B4-BE49-F238E27FC236}">
                <a16:creationId xmlns:a16="http://schemas.microsoft.com/office/drawing/2014/main" id="{1D311F7A-3F88-F3E4-BB8D-241E024AA128}"/>
              </a:ext>
            </a:extLst>
          </p:cNvPr>
          <p:cNvPicPr>
            <a:picLocks noChangeAspect="1"/>
          </p:cNvPicPr>
          <p:nvPr/>
        </p:nvPicPr>
        <p:blipFill>
          <a:blip r:embed="rId5"/>
          <a:stretch>
            <a:fillRect/>
          </a:stretch>
        </p:blipFill>
        <p:spPr>
          <a:xfrm>
            <a:off x="6899975" y="2778585"/>
            <a:ext cx="1747225" cy="437296"/>
          </a:xfrm>
          <a:prstGeom prst="rect">
            <a:avLst/>
          </a:prstGeom>
        </p:spPr>
      </p:pic>
      <p:sp>
        <p:nvSpPr>
          <p:cNvPr id="48" name="TextBox 47">
            <a:extLst>
              <a:ext uri="{FF2B5EF4-FFF2-40B4-BE49-F238E27FC236}">
                <a16:creationId xmlns:a16="http://schemas.microsoft.com/office/drawing/2014/main" id="{25E97EBF-9D94-38A8-476A-9DD0A0576BE6}"/>
              </a:ext>
            </a:extLst>
          </p:cNvPr>
          <p:cNvSpPr txBox="1"/>
          <p:nvPr/>
        </p:nvSpPr>
        <p:spPr>
          <a:xfrm>
            <a:off x="5765235" y="3199899"/>
            <a:ext cx="838549" cy="430887"/>
          </a:xfrm>
          <a:prstGeom prst="rect">
            <a:avLst/>
          </a:prstGeom>
          <a:noFill/>
        </p:spPr>
        <p:txBody>
          <a:bodyPr wrap="square" rtlCol="0">
            <a:spAutoFit/>
          </a:bodyPr>
          <a:lstStyle/>
          <a:p>
            <a:pPr algn="r"/>
            <a:r>
              <a:rPr lang="en-US" sz="1100" dirty="0"/>
              <a:t>weight:</a:t>
            </a:r>
          </a:p>
          <a:p>
            <a:pPr algn="r"/>
            <a:r>
              <a:rPr lang="en-US" sz="1100" dirty="0"/>
              <a:t>cost:</a:t>
            </a:r>
          </a:p>
        </p:txBody>
      </p:sp>
      <p:sp>
        <p:nvSpPr>
          <p:cNvPr id="49" name="Rounded Rectangle 48">
            <a:extLst>
              <a:ext uri="{FF2B5EF4-FFF2-40B4-BE49-F238E27FC236}">
                <a16:creationId xmlns:a16="http://schemas.microsoft.com/office/drawing/2014/main" id="{57095335-F185-0C0E-F5A5-A924564E06BB}"/>
              </a:ext>
            </a:extLst>
          </p:cNvPr>
          <p:cNvSpPr/>
          <p:nvPr/>
        </p:nvSpPr>
        <p:spPr>
          <a:xfrm>
            <a:off x="6617310" y="3265721"/>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50" name="Rounded Rectangle 49">
            <a:extLst>
              <a:ext uri="{FF2B5EF4-FFF2-40B4-BE49-F238E27FC236}">
                <a16:creationId xmlns:a16="http://schemas.microsoft.com/office/drawing/2014/main" id="{28809A0C-32F2-5763-1D7A-FF2DC0D5A6F0}"/>
              </a:ext>
            </a:extLst>
          </p:cNvPr>
          <p:cNvSpPr/>
          <p:nvPr/>
        </p:nvSpPr>
        <p:spPr>
          <a:xfrm>
            <a:off x="6617310" y="3446599"/>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58" name="TextBox 57">
            <a:extLst>
              <a:ext uri="{FF2B5EF4-FFF2-40B4-BE49-F238E27FC236}">
                <a16:creationId xmlns:a16="http://schemas.microsoft.com/office/drawing/2014/main" id="{64817552-B002-08C8-EFB7-AC033A685B31}"/>
              </a:ext>
            </a:extLst>
          </p:cNvPr>
          <p:cNvSpPr txBox="1"/>
          <p:nvPr/>
        </p:nvSpPr>
        <p:spPr>
          <a:xfrm>
            <a:off x="7171981" y="3231920"/>
            <a:ext cx="838549" cy="430887"/>
          </a:xfrm>
          <a:prstGeom prst="rect">
            <a:avLst/>
          </a:prstGeom>
          <a:noFill/>
        </p:spPr>
        <p:txBody>
          <a:bodyPr wrap="square" rtlCol="0">
            <a:spAutoFit/>
          </a:bodyPr>
          <a:lstStyle/>
          <a:p>
            <a:pPr algn="r"/>
            <a:r>
              <a:rPr lang="en-US" sz="1100" dirty="0"/>
              <a:t>avg output:</a:t>
            </a:r>
          </a:p>
          <a:p>
            <a:pPr algn="r"/>
            <a:r>
              <a:rPr lang="en-US" sz="1100" dirty="0"/>
              <a:t>efficiency:</a:t>
            </a:r>
          </a:p>
        </p:txBody>
      </p:sp>
      <p:sp>
        <p:nvSpPr>
          <p:cNvPr id="59" name="Rounded Rectangle 58">
            <a:extLst>
              <a:ext uri="{FF2B5EF4-FFF2-40B4-BE49-F238E27FC236}">
                <a16:creationId xmlns:a16="http://schemas.microsoft.com/office/drawing/2014/main" id="{84D62F06-3083-3A4D-777F-D47602A853D7}"/>
              </a:ext>
            </a:extLst>
          </p:cNvPr>
          <p:cNvSpPr/>
          <p:nvPr/>
        </p:nvSpPr>
        <p:spPr>
          <a:xfrm>
            <a:off x="8024056" y="3297742"/>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60" name="Rounded Rectangle 59">
            <a:extLst>
              <a:ext uri="{FF2B5EF4-FFF2-40B4-BE49-F238E27FC236}">
                <a16:creationId xmlns:a16="http://schemas.microsoft.com/office/drawing/2014/main" id="{02254DDE-F8D9-A282-69F6-CFBE20B10F65}"/>
              </a:ext>
            </a:extLst>
          </p:cNvPr>
          <p:cNvSpPr/>
          <p:nvPr/>
        </p:nvSpPr>
        <p:spPr>
          <a:xfrm>
            <a:off x="8024056" y="3478620"/>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31" name="Text 1">
            <a:extLst>
              <a:ext uri="{FF2B5EF4-FFF2-40B4-BE49-F238E27FC236}">
                <a16:creationId xmlns:a16="http://schemas.microsoft.com/office/drawing/2014/main" id="{56FD9DD6-7BF6-4E9C-2FBA-6932CD967B6D}"/>
              </a:ext>
            </a:extLst>
          </p:cNvPr>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Subsystem Design Overview</a:t>
            </a:r>
            <a:endParaRPr lang="en-US" sz="2200" dirty="0"/>
          </a:p>
        </p:txBody>
      </p:sp>
      <p:sp>
        <p:nvSpPr>
          <p:cNvPr id="34" name="Text 2">
            <a:extLst>
              <a:ext uri="{FF2B5EF4-FFF2-40B4-BE49-F238E27FC236}">
                <a16:creationId xmlns:a16="http://schemas.microsoft.com/office/drawing/2014/main" id="{C0576AA1-26DD-A658-9C74-4DFF6D7B5B67}"/>
              </a:ext>
            </a:extLst>
          </p:cNvPr>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/design/:subsystemId</a:t>
            </a:r>
            <a:endParaRPr lang="en-US" sz="1100" dirty="0"/>
          </a:p>
        </p:txBody>
      </p:sp>
      <p:sp>
        <p:nvSpPr>
          <p:cNvPr id="42" name="Text 3">
            <a:extLst>
              <a:ext uri="{FF2B5EF4-FFF2-40B4-BE49-F238E27FC236}">
                <a16:creationId xmlns:a16="http://schemas.microsoft.com/office/drawing/2014/main" id="{970E65A3-D52C-B042-0147-3D9F6751558A}"/>
              </a:ext>
            </a:extLst>
          </p:cNvPr>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5</a:t>
            </a:r>
            <a:endParaRPr lang="en-US" sz="1100" dirty="0"/>
          </a:p>
        </p:txBody>
      </p:sp>
    </p:spTree>
    <p:extLst>
      <p:ext uri="{BB962C8B-B14F-4D97-AF65-F5344CB8AC3E}">
        <p14:creationId xmlns:p14="http://schemas.microsoft.com/office/powerpoint/2010/main" val="2537693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p:cNvSpPr/>
          <p:nvPr/>
        </p:nvSpPr>
        <p:spPr>
          <a:xfrm>
            <a:off x="457200" y="1005840"/>
            <a:ext cx="5303520" cy="2651760"/>
          </a:xfrm>
          <a:prstGeom prst="rect">
            <a:avLst/>
          </a:prstGeom>
          <a:solidFill>
            <a:srgbClr val="FFFFFF"/>
          </a:solidFill>
          <a:ln w="19050">
            <a:solidFill>
              <a:srgbClr val="94A3B8"/>
            </a:solidFill>
            <a:prstDash val="dash"/>
          </a:ln>
        </p:spPr>
        <p:txBody>
          <a:bodyPr/>
          <a:lstStyle/>
          <a:p>
            <a:endParaRPr lang="en-US" dirty="0"/>
          </a:p>
        </p:txBody>
      </p:sp>
      <p:pic>
        <p:nvPicPr>
          <p:cNvPr id="3074" name="Picture 2" descr="Wind Turbine Blade Design - Flat, Bent or Curved You Choose">
            <a:extLst>
              <a:ext uri="{FF2B5EF4-FFF2-40B4-BE49-F238E27FC236}">
                <a16:creationId xmlns:a16="http://schemas.microsoft.com/office/drawing/2014/main" id="{1014F3C2-2658-9346-B64F-41FB7A705D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1131" y="1652759"/>
            <a:ext cx="2785966" cy="1268837"/>
          </a:xfrm>
          <a:prstGeom prst="rect">
            <a:avLst/>
          </a:prstGeom>
          <a:noFill/>
          <a:extLst>
            <a:ext uri="{909E8E84-426E-40DD-AFC4-6F175D3DCCD1}">
              <a14:hiddenFill xmlns:a14="http://schemas.microsoft.com/office/drawing/2010/main">
                <a:solidFill>
                  <a:srgbClr val="FFFFFF"/>
                </a:solidFill>
              </a14:hiddenFill>
            </a:ext>
          </a:extLst>
        </p:spPr>
      </p:pic>
      <p:sp>
        <p:nvSpPr>
          <p:cNvPr id="2" name="Shape 0"/>
          <p:cNvSpPr/>
          <p:nvPr/>
        </p:nvSpPr>
        <p:spPr>
          <a:xfrm>
            <a:off x="0" y="0"/>
            <a:ext cx="9144000" cy="777240"/>
          </a:xfrm>
          <a:prstGeom prst="rect">
            <a:avLst/>
          </a:prstGeom>
          <a:solidFill>
            <a:srgbClr val="1E293B"/>
          </a:solidFill>
          <a:ln/>
        </p:spPr>
        <p:txBody>
          <a:bodyPr/>
          <a:lstStyle/>
          <a:p>
            <a:endParaRPr lang="en-US"/>
          </a:p>
        </p:txBody>
      </p:sp>
      <p:pic>
        <p:nvPicPr>
          <p:cNvPr id="3" name="Image 0" descr="preencoded.png"/>
          <p:cNvPicPr>
            <a:picLocks noChangeAspect="1"/>
          </p:cNvPicPr>
          <p:nvPr/>
        </p:nvPicPr>
        <p:blipFill>
          <a:blip r:embed="rId4"/>
          <a:stretch>
            <a:fillRect/>
          </a:stretch>
        </p:blipFill>
        <p:spPr>
          <a:xfrm>
            <a:off x="457200" y="164592"/>
            <a:ext cx="365760" cy="365760"/>
          </a:xfrm>
          <a:prstGeom prst="rect">
            <a:avLst/>
          </a:prstGeom>
        </p:spPr>
      </p:pic>
      <p:sp>
        <p:nvSpPr>
          <p:cNvPr id="4" name="Text 1"/>
          <p:cNvSpPr/>
          <p:nvPr/>
        </p:nvSpPr>
        <p:spPr>
          <a:xfrm>
            <a:off x="914400" y="91440"/>
            <a:ext cx="4572000" cy="32004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Subsystem Design Detail</a:t>
            </a:r>
            <a:endParaRPr lang="en-US" sz="2200" dirty="0"/>
          </a:p>
        </p:txBody>
      </p:sp>
      <p:sp>
        <p:nvSpPr>
          <p:cNvPr id="5" name="Text 2"/>
          <p:cNvSpPr/>
          <p:nvPr/>
        </p:nvSpPr>
        <p:spPr>
          <a:xfrm>
            <a:off x="914400" y="429768"/>
            <a:ext cx="4572000" cy="274320"/>
          </a:xfrm>
          <a:prstGeom prst="rect">
            <a:avLst/>
          </a:prstGeom>
          <a:noFill/>
          <a:ln/>
        </p:spPr>
        <p:txBody>
          <a:bodyPr wrap="square" lIns="0" tIns="0" rIns="0" bIns="0" rtlCol="0" anchor="ctr"/>
          <a:lstStyle/>
          <a:p>
            <a:pPr marL="0" indent="0">
              <a:buNone/>
            </a:pPr>
            <a:r>
              <a:rPr lang="en-US" sz="1100" dirty="0">
                <a:solidFill>
                  <a:srgbClr val="0D9488"/>
                </a:solidFill>
                <a:latin typeface="Consolas" pitchFamily="34" charset="0"/>
                <a:ea typeface="Consolas" pitchFamily="34" charset="-122"/>
                <a:cs typeface="Consolas" pitchFamily="34" charset="-120"/>
              </a:rPr>
              <a:t>/design/:subsystemId/detail</a:t>
            </a:r>
            <a:endParaRPr lang="en-US" sz="1100" dirty="0"/>
          </a:p>
        </p:txBody>
      </p:sp>
      <p:sp>
        <p:nvSpPr>
          <p:cNvPr id="6" name="Text 3"/>
          <p:cNvSpPr/>
          <p:nvPr/>
        </p:nvSpPr>
        <p:spPr>
          <a:xfrm>
            <a:off x="7315200" y="228600"/>
            <a:ext cx="1371600" cy="320040"/>
          </a:xfrm>
          <a:prstGeom prst="rect">
            <a:avLst/>
          </a:prstGeom>
          <a:noFill/>
          <a:ln/>
        </p:spPr>
        <p:txBody>
          <a:bodyPr wrap="square" lIns="0" tIns="0" rIns="0" bIns="0" rtlCol="0" anchor="ctr"/>
          <a:lstStyle/>
          <a:p>
            <a:pPr marL="0" indent="0" algn="r">
              <a:buNone/>
            </a:pPr>
            <a:r>
              <a:rPr lang="en-US" sz="1100" dirty="0">
                <a:solidFill>
                  <a:srgbClr val="CBD5E1"/>
                </a:solidFill>
                <a:latin typeface="Calibri" pitchFamily="34" charset="0"/>
                <a:ea typeface="Calibri" pitchFamily="34" charset="-122"/>
                <a:cs typeface="Calibri" pitchFamily="34" charset="-120"/>
              </a:rPr>
              <a:t>Screen 6</a:t>
            </a:r>
            <a:endParaRPr lang="en-US" sz="1100" dirty="0"/>
          </a:p>
        </p:txBody>
      </p:sp>
      <p:sp>
        <p:nvSpPr>
          <p:cNvPr id="8" name="Text 5"/>
          <p:cNvSpPr/>
          <p:nvPr/>
        </p:nvSpPr>
        <p:spPr>
          <a:xfrm>
            <a:off x="457200" y="1051560"/>
            <a:ext cx="530352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Desktop</a:t>
            </a:r>
            <a:endParaRPr lang="en-US" sz="900" dirty="0"/>
          </a:p>
        </p:txBody>
      </p:sp>
      <p:sp>
        <p:nvSpPr>
          <p:cNvPr id="9" name="Shape 6"/>
          <p:cNvSpPr/>
          <p:nvPr/>
        </p:nvSpPr>
        <p:spPr>
          <a:xfrm>
            <a:off x="5943600" y="1005840"/>
            <a:ext cx="2437923" cy="2725828"/>
          </a:xfrm>
          <a:prstGeom prst="rect">
            <a:avLst/>
          </a:prstGeom>
          <a:solidFill>
            <a:srgbClr val="FFFFFF"/>
          </a:solidFill>
          <a:ln w="19050">
            <a:solidFill>
              <a:srgbClr val="94A3B8"/>
            </a:solidFill>
            <a:prstDash val="dash"/>
          </a:ln>
        </p:spPr>
        <p:txBody>
          <a:bodyPr/>
          <a:lstStyle/>
          <a:p>
            <a:endParaRPr lang="en-US"/>
          </a:p>
        </p:txBody>
      </p:sp>
      <p:sp>
        <p:nvSpPr>
          <p:cNvPr id="10" name="Text 7"/>
          <p:cNvSpPr/>
          <p:nvPr/>
        </p:nvSpPr>
        <p:spPr>
          <a:xfrm>
            <a:off x="5943600" y="1051560"/>
            <a:ext cx="2743200" cy="22860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Mobile</a:t>
            </a:r>
            <a:endParaRPr lang="en-US" sz="900" dirty="0"/>
          </a:p>
        </p:txBody>
      </p:sp>
      <p:sp>
        <p:nvSpPr>
          <p:cNvPr id="11" name="Shape 8"/>
          <p:cNvSpPr/>
          <p:nvPr/>
        </p:nvSpPr>
        <p:spPr>
          <a:xfrm>
            <a:off x="457200" y="3703320"/>
            <a:ext cx="1965960" cy="13487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457200" y="3703320"/>
            <a:ext cx="36576" cy="1097280"/>
          </a:xfrm>
          <a:prstGeom prst="rect">
            <a:avLst/>
          </a:prstGeom>
          <a:solidFill>
            <a:srgbClr val="0D9488"/>
          </a:solidFill>
          <a:ln/>
        </p:spPr>
        <p:txBody>
          <a:bodyPr/>
          <a:lstStyle/>
          <a:p>
            <a:endParaRPr lang="en-US"/>
          </a:p>
        </p:txBody>
      </p:sp>
      <p:sp>
        <p:nvSpPr>
          <p:cNvPr id="13" name="Text 10"/>
          <p:cNvSpPr/>
          <p:nvPr/>
        </p:nvSpPr>
        <p:spPr>
          <a:xfrm>
            <a:off x="566928" y="371316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Purpose</a:t>
            </a:r>
            <a:endParaRPr lang="en-US" sz="1000" dirty="0"/>
          </a:p>
        </p:txBody>
      </p:sp>
      <p:sp>
        <p:nvSpPr>
          <p:cNvPr id="14" name="Text 11"/>
          <p:cNvSpPr/>
          <p:nvPr/>
        </p:nvSpPr>
        <p:spPr>
          <a:xfrm>
            <a:off x="566928" y="3932616"/>
            <a:ext cx="1783080" cy="1148692"/>
          </a:xfrm>
          <a:prstGeom prst="rect">
            <a:avLst/>
          </a:prstGeom>
          <a:noFill/>
          <a:ln/>
        </p:spPr>
        <p:txBody>
          <a:bodyPr wrap="square" lIns="0" tIns="0" rIns="0" bIns="0" rtlCol="0" anchor="t"/>
          <a:lstStyle/>
          <a:p>
            <a:pPr marL="0" indent="0">
              <a:buNone/>
            </a:pPr>
            <a:r>
              <a:rPr lang="en-US" sz="800" i="1" dirty="0">
                <a:solidFill>
                  <a:srgbClr val="CBD5E1"/>
                </a:solidFill>
                <a:latin typeface="Calibri" pitchFamily="34" charset="0"/>
                <a:ea typeface="Calibri" pitchFamily="34" charset="-122"/>
                <a:cs typeface="Calibri" pitchFamily="34" charset="-120"/>
              </a:rPr>
              <a:t>The purpose of this page is to allow a user to design a windmill’s blades by editing the cross sectional area and shape. 10 discrete length locations of the blade can be modified by adjusting the slider on the right. The blade width and length can be adjusted. In the future (not now) cross sectional shape should be adjustable by click-and drag, but retain a base airfoil shape. </a:t>
            </a:r>
            <a:endParaRPr lang="en-US" sz="800" dirty="0"/>
          </a:p>
        </p:txBody>
      </p:sp>
      <p:sp>
        <p:nvSpPr>
          <p:cNvPr id="15" name="Shape 12"/>
          <p:cNvSpPr/>
          <p:nvPr/>
        </p:nvSpPr>
        <p:spPr>
          <a:xfrm>
            <a:off x="2542032" y="3754118"/>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3"/>
          <p:cNvSpPr/>
          <p:nvPr/>
        </p:nvSpPr>
        <p:spPr>
          <a:xfrm>
            <a:off x="2542032" y="3840480"/>
            <a:ext cx="36576" cy="1097280"/>
          </a:xfrm>
          <a:prstGeom prst="rect">
            <a:avLst/>
          </a:prstGeom>
          <a:solidFill>
            <a:srgbClr val="0D9488"/>
          </a:solidFill>
          <a:ln/>
        </p:spPr>
        <p:txBody>
          <a:bodyPr/>
          <a:lstStyle/>
          <a:p>
            <a:endParaRPr lang="en-US"/>
          </a:p>
        </p:txBody>
      </p:sp>
      <p:sp>
        <p:nvSpPr>
          <p:cNvPr id="17" name="Text 14"/>
          <p:cNvSpPr/>
          <p:nvPr/>
        </p:nvSpPr>
        <p:spPr>
          <a:xfrm>
            <a:off x="2651760" y="3698520"/>
            <a:ext cx="1783080" cy="201168"/>
          </a:xfrm>
          <a:prstGeom prst="rect">
            <a:avLst/>
          </a:prstGeom>
          <a:noFill/>
          <a:ln/>
        </p:spPr>
        <p:txBody>
          <a:bodyPr wrap="square" lIns="0" tIns="0" rIns="0" bIns="0" rtlCol="0" anchor="ctr"/>
          <a:lstStyle/>
          <a:p>
            <a:pPr marL="0" indent="0">
              <a:buNone/>
            </a:pPr>
            <a:r>
              <a:rPr lang="en-US" sz="800" b="1" dirty="0">
                <a:solidFill>
                  <a:srgbClr val="0D9488"/>
                </a:solidFill>
                <a:latin typeface="Trebuchet MS" pitchFamily="34" charset="0"/>
                <a:ea typeface="Trebuchet MS" pitchFamily="34" charset="-122"/>
                <a:cs typeface="Trebuchet MS" pitchFamily="34" charset="-120"/>
              </a:rPr>
              <a:t>Key Interactions</a:t>
            </a:r>
            <a:endParaRPr lang="en-US" sz="800" dirty="0"/>
          </a:p>
        </p:txBody>
      </p:sp>
      <p:sp>
        <p:nvSpPr>
          <p:cNvPr id="18" name="Text 15"/>
          <p:cNvSpPr/>
          <p:nvPr/>
        </p:nvSpPr>
        <p:spPr>
          <a:xfrm>
            <a:off x="2651760" y="3918751"/>
            <a:ext cx="1783080" cy="1028700"/>
          </a:xfrm>
          <a:prstGeom prst="rect">
            <a:avLst/>
          </a:prstGeom>
          <a:noFill/>
          <a:ln/>
        </p:spPr>
        <p:txBody>
          <a:bodyPr wrap="square" lIns="0" tIns="0" rIns="0" bIns="0" rtlCol="0" anchor="t"/>
          <a:lstStyle/>
          <a:p>
            <a:pPr marL="0" indent="0">
              <a:buNone/>
            </a:pPr>
            <a:r>
              <a:rPr lang="en-US" sz="700" i="1" dirty="0">
                <a:solidFill>
                  <a:srgbClr val="CBD5E1"/>
                </a:solidFill>
                <a:latin typeface="Calibri" pitchFamily="34" charset="0"/>
                <a:cs typeface="Calibri" pitchFamily="34" charset="-120"/>
              </a:rPr>
              <a:t>On left: rotating windmill which displays overall blade shape. In middle: The arrows represent either airflow or pressure around a section of the airfoil. Their length corresponds to their magnitude. The user slides the two dials (angle of attack top, wind speed bottom). Save section shape, saves the shape of this cross section.</a:t>
            </a:r>
          </a:p>
          <a:p>
            <a:pPr marL="0" indent="0">
              <a:buNone/>
            </a:pPr>
            <a:r>
              <a:rPr lang="en-US" sz="700" i="1" dirty="0">
                <a:solidFill>
                  <a:srgbClr val="CBD5E1"/>
                </a:solidFill>
                <a:latin typeface="Calibri" pitchFamily="34" charset="0"/>
                <a:cs typeface="Calibri" pitchFamily="34" charset="-120"/>
              </a:rPr>
              <a:t>On right: A single blade is shown. The slider controls where along the length of blade the visible cross section is. Blade width and blade length are controlled by arrow buttons.</a:t>
            </a:r>
            <a:endParaRPr lang="en-US" sz="700" dirty="0"/>
          </a:p>
        </p:txBody>
      </p:sp>
      <p:sp>
        <p:nvSpPr>
          <p:cNvPr id="19" name="Shape 16"/>
          <p:cNvSpPr/>
          <p:nvPr/>
        </p:nvSpPr>
        <p:spPr>
          <a:xfrm>
            <a:off x="4626864" y="3735266"/>
            <a:ext cx="1965960" cy="1202494"/>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dirty="0"/>
          </a:p>
        </p:txBody>
      </p:sp>
      <p:sp>
        <p:nvSpPr>
          <p:cNvPr id="20" name="Shape 17"/>
          <p:cNvSpPr/>
          <p:nvPr/>
        </p:nvSpPr>
        <p:spPr>
          <a:xfrm>
            <a:off x="4617721" y="3720060"/>
            <a:ext cx="45719" cy="1217700"/>
          </a:xfrm>
          <a:prstGeom prst="rect">
            <a:avLst/>
          </a:prstGeom>
          <a:solidFill>
            <a:srgbClr val="0D9488"/>
          </a:solidFill>
          <a:ln/>
        </p:spPr>
        <p:txBody>
          <a:bodyPr/>
          <a:lstStyle/>
          <a:p>
            <a:endParaRPr lang="en-US"/>
          </a:p>
        </p:txBody>
      </p:sp>
      <p:sp>
        <p:nvSpPr>
          <p:cNvPr id="21" name="Text 18"/>
          <p:cNvSpPr/>
          <p:nvPr/>
        </p:nvSpPr>
        <p:spPr>
          <a:xfrm>
            <a:off x="4731759" y="3776940"/>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Data Shown</a:t>
            </a:r>
            <a:endParaRPr lang="en-US" sz="1000" dirty="0"/>
          </a:p>
        </p:txBody>
      </p:sp>
      <p:sp>
        <p:nvSpPr>
          <p:cNvPr id="22" name="Text 19"/>
          <p:cNvSpPr/>
          <p:nvPr/>
        </p:nvSpPr>
        <p:spPr>
          <a:xfrm>
            <a:off x="4736592" y="3937862"/>
            <a:ext cx="1783080" cy="992149"/>
          </a:xfrm>
          <a:prstGeom prst="rect">
            <a:avLst/>
          </a:prstGeom>
          <a:noFill/>
          <a:ln/>
        </p:spPr>
        <p:txBody>
          <a:bodyPr wrap="square" lIns="0" tIns="0" rIns="0" bIns="0" rtlCol="0" anchor="t"/>
          <a:lstStyle/>
          <a:p>
            <a:pPr marL="0" indent="0">
              <a:buNone/>
            </a:pPr>
            <a:r>
              <a:rPr lang="en-US" sz="800" i="1" dirty="0">
                <a:solidFill>
                  <a:srgbClr val="CBD5E1"/>
                </a:solidFill>
                <a:latin typeface="Calibri" pitchFamily="34" charset="0"/>
                <a:cs typeface="Calibri" pitchFamily="34" charset="-120"/>
              </a:rPr>
              <a:t>Green arrows: Pressure gradient, caused by wind velocity, angle of attack, and shape of the blade. Larger arrow = more pressure.</a:t>
            </a:r>
            <a:br>
              <a:rPr lang="en-US" sz="800" i="1" dirty="0">
                <a:solidFill>
                  <a:srgbClr val="CBD5E1"/>
                </a:solidFill>
                <a:latin typeface="Calibri" pitchFamily="34" charset="0"/>
                <a:cs typeface="Calibri" pitchFamily="34" charset="-120"/>
              </a:rPr>
            </a:br>
            <a:r>
              <a:rPr lang="en-US" sz="800" i="1" dirty="0">
                <a:solidFill>
                  <a:srgbClr val="CBD5E1"/>
                </a:solidFill>
                <a:latin typeface="Calibri" pitchFamily="34" charset="0"/>
                <a:cs typeface="Calibri" pitchFamily="34" charset="-120"/>
              </a:rPr>
              <a:t>Blue arrows: Animated wind flow. Equal magnitude. Velocity of wind flow based on wind velocity slider, angle of attack, and shape of blade. Not picture but should be shown: blade height, width cost.</a:t>
            </a:r>
            <a:endParaRPr lang="en-US" sz="800" dirty="0"/>
          </a:p>
        </p:txBody>
      </p:sp>
      <p:sp>
        <p:nvSpPr>
          <p:cNvPr id="23" name="Shape 20"/>
          <p:cNvSpPr/>
          <p:nvPr/>
        </p:nvSpPr>
        <p:spPr>
          <a:xfrm>
            <a:off x="6711696" y="3840480"/>
            <a:ext cx="1965960" cy="109728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dirty="0"/>
          </a:p>
        </p:txBody>
      </p:sp>
      <p:sp>
        <p:nvSpPr>
          <p:cNvPr id="24" name="Shape 21"/>
          <p:cNvSpPr/>
          <p:nvPr/>
        </p:nvSpPr>
        <p:spPr>
          <a:xfrm>
            <a:off x="6711696" y="3840480"/>
            <a:ext cx="36576" cy="1097280"/>
          </a:xfrm>
          <a:prstGeom prst="rect">
            <a:avLst/>
          </a:prstGeom>
          <a:solidFill>
            <a:srgbClr val="0D9488"/>
          </a:solidFill>
          <a:ln/>
        </p:spPr>
        <p:txBody>
          <a:bodyPr/>
          <a:lstStyle/>
          <a:p>
            <a:endParaRPr lang="en-US"/>
          </a:p>
        </p:txBody>
      </p:sp>
      <p:sp>
        <p:nvSpPr>
          <p:cNvPr id="25" name="Text 22"/>
          <p:cNvSpPr/>
          <p:nvPr/>
        </p:nvSpPr>
        <p:spPr>
          <a:xfrm>
            <a:off x="6821424" y="3815608"/>
            <a:ext cx="1783080" cy="201168"/>
          </a:xfrm>
          <a:prstGeom prst="rect">
            <a:avLst/>
          </a:prstGeom>
          <a:noFill/>
          <a:ln/>
        </p:spPr>
        <p:txBody>
          <a:bodyPr wrap="square" lIns="0" tIns="0" rIns="0" bIns="0" rtlCol="0" anchor="ctr"/>
          <a:lstStyle/>
          <a:p>
            <a:pPr marL="0" indent="0">
              <a:buNone/>
            </a:pPr>
            <a:r>
              <a:rPr lang="en-US" sz="1000" b="1" dirty="0">
                <a:solidFill>
                  <a:srgbClr val="0D9488"/>
                </a:solidFill>
                <a:latin typeface="Trebuchet MS" pitchFamily="34" charset="0"/>
                <a:ea typeface="Trebuchet MS" pitchFamily="34" charset="-122"/>
                <a:cs typeface="Trebuchet MS" pitchFamily="34" charset="-120"/>
              </a:rPr>
              <a:t>Edge Cases &amp; States</a:t>
            </a:r>
            <a:endParaRPr lang="en-US" sz="1000" dirty="0"/>
          </a:p>
        </p:txBody>
      </p:sp>
      <p:sp>
        <p:nvSpPr>
          <p:cNvPr id="26" name="Text 23"/>
          <p:cNvSpPr/>
          <p:nvPr/>
        </p:nvSpPr>
        <p:spPr>
          <a:xfrm>
            <a:off x="6821424" y="4005578"/>
            <a:ext cx="1783080" cy="731520"/>
          </a:xfrm>
          <a:prstGeom prst="rect">
            <a:avLst/>
          </a:prstGeom>
          <a:noFill/>
          <a:ln/>
        </p:spPr>
        <p:txBody>
          <a:bodyPr wrap="square" lIns="0" tIns="0" rIns="0" bIns="0" rtlCol="0" anchor="t"/>
          <a:lstStyle/>
          <a:p>
            <a:pPr marL="0" indent="0">
              <a:buNone/>
            </a:pPr>
            <a:r>
              <a:rPr lang="en-US" sz="900" i="1" dirty="0">
                <a:solidFill>
                  <a:srgbClr val="CBD5E1"/>
                </a:solidFill>
                <a:latin typeface="Calibri" pitchFamily="34" charset="0"/>
                <a:cs typeface="Calibri" pitchFamily="34" charset="-120"/>
              </a:rPr>
              <a:t>The value of the slider corresponds to a value on the blade’s radial axis. This state must be known, as the values of angle of attack and shape of the cross section, are saved for each length value. The windmill animation (far left) must know the overall blade geometry (shown on right)</a:t>
            </a:r>
            <a:endParaRPr lang="en-US" sz="900" dirty="0"/>
          </a:p>
        </p:txBody>
      </p:sp>
      <p:sp>
        <p:nvSpPr>
          <p:cNvPr id="27" name="Rounded Rectangle 26">
            <a:extLst>
              <a:ext uri="{FF2B5EF4-FFF2-40B4-BE49-F238E27FC236}">
                <a16:creationId xmlns:a16="http://schemas.microsoft.com/office/drawing/2014/main" id="{8E995AE9-87B2-5E0F-C592-1F5CB247520F}"/>
              </a:ext>
            </a:extLst>
          </p:cNvPr>
          <p:cNvSpPr/>
          <p:nvPr/>
        </p:nvSpPr>
        <p:spPr>
          <a:xfrm>
            <a:off x="646526" y="1280160"/>
            <a:ext cx="1016914"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Back to Blades</a:t>
            </a:r>
          </a:p>
        </p:txBody>
      </p:sp>
      <p:sp>
        <p:nvSpPr>
          <p:cNvPr id="40" name="Rectangle 39">
            <a:extLst>
              <a:ext uri="{FF2B5EF4-FFF2-40B4-BE49-F238E27FC236}">
                <a16:creationId xmlns:a16="http://schemas.microsoft.com/office/drawing/2014/main" id="{C16220D6-0C0C-01A4-650C-BA3EFAD5A5C3}"/>
              </a:ext>
            </a:extLst>
          </p:cNvPr>
          <p:cNvSpPr/>
          <p:nvPr/>
        </p:nvSpPr>
        <p:spPr>
          <a:xfrm>
            <a:off x="2139697" y="3139440"/>
            <a:ext cx="1223697"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9691198-B142-0242-851F-8F39213F2EC3}"/>
              </a:ext>
            </a:extLst>
          </p:cNvPr>
          <p:cNvSpPr/>
          <p:nvPr/>
        </p:nvSpPr>
        <p:spPr>
          <a:xfrm>
            <a:off x="2139697" y="3429001"/>
            <a:ext cx="1223697"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FC8702FD-2283-2400-3F59-D4F93979E9F6}"/>
              </a:ext>
            </a:extLst>
          </p:cNvPr>
          <p:cNvSpPr/>
          <p:nvPr/>
        </p:nvSpPr>
        <p:spPr>
          <a:xfrm>
            <a:off x="2875636" y="3047999"/>
            <a:ext cx="228600" cy="228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A195EC8-A08B-0BCF-6506-E83680B45049}"/>
              </a:ext>
            </a:extLst>
          </p:cNvPr>
          <p:cNvSpPr/>
          <p:nvPr/>
        </p:nvSpPr>
        <p:spPr>
          <a:xfrm>
            <a:off x="2343695" y="3342638"/>
            <a:ext cx="228600" cy="228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F4D45521-772F-D113-044D-A087F22310F5}"/>
              </a:ext>
            </a:extLst>
          </p:cNvPr>
          <p:cNvSpPr txBox="1"/>
          <p:nvPr/>
        </p:nvSpPr>
        <p:spPr>
          <a:xfrm>
            <a:off x="196596" y="3088610"/>
            <a:ext cx="1175004" cy="600164"/>
          </a:xfrm>
          <a:prstGeom prst="rect">
            <a:avLst/>
          </a:prstGeom>
          <a:noFill/>
        </p:spPr>
        <p:txBody>
          <a:bodyPr wrap="square" rtlCol="0">
            <a:spAutoFit/>
          </a:bodyPr>
          <a:lstStyle/>
          <a:p>
            <a:pPr algn="r"/>
            <a:r>
              <a:rPr lang="en-US" sz="1100" dirty="0"/>
              <a:t>Pressure diff:</a:t>
            </a:r>
          </a:p>
          <a:p>
            <a:pPr algn="r"/>
            <a:r>
              <a:rPr lang="en-US" sz="1100" dirty="0"/>
              <a:t>Resultant velocity:</a:t>
            </a:r>
          </a:p>
        </p:txBody>
      </p:sp>
      <p:sp>
        <p:nvSpPr>
          <p:cNvPr id="45" name="Rounded Rectangle 44">
            <a:extLst>
              <a:ext uri="{FF2B5EF4-FFF2-40B4-BE49-F238E27FC236}">
                <a16:creationId xmlns:a16="http://schemas.microsoft.com/office/drawing/2014/main" id="{4DD9B1EC-94D5-15DD-7968-702F452BCDD3}"/>
              </a:ext>
            </a:extLst>
          </p:cNvPr>
          <p:cNvSpPr/>
          <p:nvPr/>
        </p:nvSpPr>
        <p:spPr>
          <a:xfrm>
            <a:off x="1441920" y="3344748"/>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46" name="Rounded Rectangle 45">
            <a:extLst>
              <a:ext uri="{FF2B5EF4-FFF2-40B4-BE49-F238E27FC236}">
                <a16:creationId xmlns:a16="http://schemas.microsoft.com/office/drawing/2014/main" id="{2BC7DF7D-44D9-821C-B8AC-A9655560EB49}"/>
              </a:ext>
            </a:extLst>
          </p:cNvPr>
          <p:cNvSpPr/>
          <p:nvPr/>
        </p:nvSpPr>
        <p:spPr>
          <a:xfrm>
            <a:off x="1445914" y="3115288"/>
            <a:ext cx="402893"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pic>
        <p:nvPicPr>
          <p:cNvPr id="47" name="Picture 2" descr="Wind Turbine Blade Design - Flat, Bent or Curved You Choose">
            <a:extLst>
              <a:ext uri="{FF2B5EF4-FFF2-40B4-BE49-F238E27FC236}">
                <a16:creationId xmlns:a16="http://schemas.microsoft.com/office/drawing/2014/main" id="{42BE9F29-0536-D6F7-B84A-B25FE5CFCC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323" y="1554480"/>
            <a:ext cx="1433632" cy="687363"/>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47">
            <a:extLst>
              <a:ext uri="{FF2B5EF4-FFF2-40B4-BE49-F238E27FC236}">
                <a16:creationId xmlns:a16="http://schemas.microsoft.com/office/drawing/2014/main" id="{6007890D-DD86-AD16-7238-4AF80C6A4249}"/>
              </a:ext>
            </a:extLst>
          </p:cNvPr>
          <p:cNvSpPr/>
          <p:nvPr/>
        </p:nvSpPr>
        <p:spPr>
          <a:xfrm>
            <a:off x="6119725" y="2445160"/>
            <a:ext cx="1433220" cy="469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0C86CCA-3DBA-14AA-0507-B0A695A32F37}"/>
              </a:ext>
            </a:extLst>
          </p:cNvPr>
          <p:cNvSpPr/>
          <p:nvPr/>
        </p:nvSpPr>
        <p:spPr>
          <a:xfrm>
            <a:off x="6119725" y="2734721"/>
            <a:ext cx="143322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C25F5643-B1EA-8C98-52A2-F04738796B29}"/>
              </a:ext>
            </a:extLst>
          </p:cNvPr>
          <p:cNvSpPr/>
          <p:nvPr/>
        </p:nvSpPr>
        <p:spPr>
          <a:xfrm>
            <a:off x="7014179" y="2353719"/>
            <a:ext cx="228600" cy="228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DA196597-351B-ED78-BB5B-A4487276ECA4}"/>
              </a:ext>
            </a:extLst>
          </p:cNvPr>
          <p:cNvSpPr/>
          <p:nvPr/>
        </p:nvSpPr>
        <p:spPr>
          <a:xfrm>
            <a:off x="6711696" y="2648358"/>
            <a:ext cx="228600" cy="228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D295DE89-7D00-E343-E823-7060DB3E4362}"/>
              </a:ext>
            </a:extLst>
          </p:cNvPr>
          <p:cNvSpPr txBox="1"/>
          <p:nvPr/>
        </p:nvSpPr>
        <p:spPr>
          <a:xfrm>
            <a:off x="5928263" y="2954624"/>
            <a:ext cx="1179818" cy="400110"/>
          </a:xfrm>
          <a:prstGeom prst="rect">
            <a:avLst/>
          </a:prstGeom>
          <a:noFill/>
        </p:spPr>
        <p:txBody>
          <a:bodyPr wrap="square" rtlCol="0">
            <a:spAutoFit/>
          </a:bodyPr>
          <a:lstStyle/>
          <a:p>
            <a:pPr algn="r"/>
            <a:r>
              <a:rPr lang="en-US" sz="1000" dirty="0"/>
              <a:t>Pressure diff:</a:t>
            </a:r>
          </a:p>
          <a:p>
            <a:pPr algn="r"/>
            <a:r>
              <a:rPr lang="en-US" sz="1000" dirty="0"/>
              <a:t>Resultant velocity:</a:t>
            </a:r>
          </a:p>
        </p:txBody>
      </p:sp>
      <p:sp>
        <p:nvSpPr>
          <p:cNvPr id="53" name="Rounded Rectangle 52">
            <a:extLst>
              <a:ext uri="{FF2B5EF4-FFF2-40B4-BE49-F238E27FC236}">
                <a16:creationId xmlns:a16="http://schemas.microsoft.com/office/drawing/2014/main" id="{57594FA7-864E-AD4A-0795-25868660D5A7}"/>
              </a:ext>
            </a:extLst>
          </p:cNvPr>
          <p:cNvSpPr/>
          <p:nvPr/>
        </p:nvSpPr>
        <p:spPr>
          <a:xfrm>
            <a:off x="7098936" y="3210762"/>
            <a:ext cx="375468"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sp>
        <p:nvSpPr>
          <p:cNvPr id="54" name="Rounded Rectangle 53">
            <a:extLst>
              <a:ext uri="{FF2B5EF4-FFF2-40B4-BE49-F238E27FC236}">
                <a16:creationId xmlns:a16="http://schemas.microsoft.com/office/drawing/2014/main" id="{977DD33A-0E6E-085E-44DB-CE49B2B95814}"/>
              </a:ext>
            </a:extLst>
          </p:cNvPr>
          <p:cNvSpPr/>
          <p:nvPr/>
        </p:nvSpPr>
        <p:spPr>
          <a:xfrm>
            <a:off x="7102930" y="2981302"/>
            <a:ext cx="375468" cy="13802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180</a:t>
            </a:r>
          </a:p>
        </p:txBody>
      </p:sp>
      <p:pic>
        <p:nvPicPr>
          <p:cNvPr id="55" name="Picture 54">
            <a:extLst>
              <a:ext uri="{FF2B5EF4-FFF2-40B4-BE49-F238E27FC236}">
                <a16:creationId xmlns:a16="http://schemas.microsoft.com/office/drawing/2014/main" id="{38C22E38-E8DC-AF8E-9B27-38DFBCDF00D0}"/>
              </a:ext>
            </a:extLst>
          </p:cNvPr>
          <p:cNvPicPr>
            <a:picLocks noChangeAspect="1"/>
          </p:cNvPicPr>
          <p:nvPr/>
        </p:nvPicPr>
        <p:blipFill>
          <a:blip r:embed="rId5"/>
          <a:stretch>
            <a:fillRect/>
          </a:stretch>
        </p:blipFill>
        <p:spPr>
          <a:xfrm>
            <a:off x="4715074" y="1518077"/>
            <a:ext cx="486114" cy="1529922"/>
          </a:xfrm>
          <a:prstGeom prst="rect">
            <a:avLst/>
          </a:prstGeom>
        </p:spPr>
      </p:pic>
      <p:cxnSp>
        <p:nvCxnSpPr>
          <p:cNvPr id="57" name="Straight Connector 56">
            <a:extLst>
              <a:ext uri="{FF2B5EF4-FFF2-40B4-BE49-F238E27FC236}">
                <a16:creationId xmlns:a16="http://schemas.microsoft.com/office/drawing/2014/main" id="{5616BFA1-2C70-557E-681F-FD5B6A7ECC08}"/>
              </a:ext>
            </a:extLst>
          </p:cNvPr>
          <p:cNvCxnSpPr>
            <a:cxnSpLocks/>
          </p:cNvCxnSpPr>
          <p:nvPr/>
        </p:nvCxnSpPr>
        <p:spPr>
          <a:xfrm flipH="1">
            <a:off x="4663440" y="2546628"/>
            <a:ext cx="889051" cy="0"/>
          </a:xfrm>
          <a:prstGeom prst="line">
            <a:avLst/>
          </a:prstGeom>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DD06D5EC-07CB-94A6-CC2A-DE06C168AF58}"/>
              </a:ext>
            </a:extLst>
          </p:cNvPr>
          <p:cNvSpPr/>
          <p:nvPr/>
        </p:nvSpPr>
        <p:spPr>
          <a:xfrm rot="5400000">
            <a:off x="4366983" y="2308861"/>
            <a:ext cx="2416735"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D1F5892-9B93-BFAE-E3B7-79ADFBCB494C}"/>
              </a:ext>
            </a:extLst>
          </p:cNvPr>
          <p:cNvSpPr/>
          <p:nvPr/>
        </p:nvSpPr>
        <p:spPr>
          <a:xfrm rot="5400000">
            <a:off x="5461050" y="2432328"/>
            <a:ext cx="228600" cy="2286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ounded Rectangle 60">
            <a:extLst>
              <a:ext uri="{FF2B5EF4-FFF2-40B4-BE49-F238E27FC236}">
                <a16:creationId xmlns:a16="http://schemas.microsoft.com/office/drawing/2014/main" id="{10A7D1F4-328F-094D-C3C9-4DD978136665}"/>
              </a:ext>
            </a:extLst>
          </p:cNvPr>
          <p:cNvSpPr/>
          <p:nvPr/>
        </p:nvSpPr>
        <p:spPr>
          <a:xfrm>
            <a:off x="5072375" y="3089909"/>
            <a:ext cx="126745" cy="2093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en-US" sz="900" dirty="0"/>
          </a:p>
        </p:txBody>
      </p:sp>
      <p:sp>
        <p:nvSpPr>
          <p:cNvPr id="62" name="Rounded Rectangle 61">
            <a:extLst>
              <a:ext uri="{FF2B5EF4-FFF2-40B4-BE49-F238E27FC236}">
                <a16:creationId xmlns:a16="http://schemas.microsoft.com/office/drawing/2014/main" id="{AA3120A4-410B-52CD-0BA0-4A987A68C680}"/>
              </a:ext>
            </a:extLst>
          </p:cNvPr>
          <p:cNvSpPr/>
          <p:nvPr/>
        </p:nvSpPr>
        <p:spPr>
          <a:xfrm rot="10800000">
            <a:off x="5280747" y="3084874"/>
            <a:ext cx="126745" cy="2093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en-US" sz="900" dirty="0"/>
          </a:p>
        </p:txBody>
      </p:sp>
      <p:sp>
        <p:nvSpPr>
          <p:cNvPr id="63" name="TextBox 62">
            <a:extLst>
              <a:ext uri="{FF2B5EF4-FFF2-40B4-BE49-F238E27FC236}">
                <a16:creationId xmlns:a16="http://schemas.microsoft.com/office/drawing/2014/main" id="{242509AF-A8FA-8915-1B7A-61EF6C10F5F8}"/>
              </a:ext>
            </a:extLst>
          </p:cNvPr>
          <p:cNvSpPr txBox="1"/>
          <p:nvPr/>
        </p:nvSpPr>
        <p:spPr>
          <a:xfrm>
            <a:off x="4026296" y="3071152"/>
            <a:ext cx="1077732" cy="230832"/>
          </a:xfrm>
          <a:prstGeom prst="rect">
            <a:avLst/>
          </a:prstGeom>
          <a:noFill/>
        </p:spPr>
        <p:txBody>
          <a:bodyPr wrap="square" rtlCol="0">
            <a:spAutoFit/>
          </a:bodyPr>
          <a:lstStyle/>
          <a:p>
            <a:pPr algn="r"/>
            <a:r>
              <a:rPr lang="en-US" sz="900" dirty="0"/>
              <a:t>blade width:</a:t>
            </a:r>
          </a:p>
        </p:txBody>
      </p:sp>
      <p:sp>
        <p:nvSpPr>
          <p:cNvPr id="3072" name="Rounded Rectangle 3071">
            <a:extLst>
              <a:ext uri="{FF2B5EF4-FFF2-40B4-BE49-F238E27FC236}">
                <a16:creationId xmlns:a16="http://schemas.microsoft.com/office/drawing/2014/main" id="{A504CB13-0B47-4205-930F-69CAFBF65DA0}"/>
              </a:ext>
            </a:extLst>
          </p:cNvPr>
          <p:cNvSpPr/>
          <p:nvPr/>
        </p:nvSpPr>
        <p:spPr>
          <a:xfrm>
            <a:off x="5075144" y="3366898"/>
            <a:ext cx="126745" cy="2093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en-US" sz="900" dirty="0"/>
          </a:p>
        </p:txBody>
      </p:sp>
      <p:sp>
        <p:nvSpPr>
          <p:cNvPr id="3073" name="Rounded Rectangle 3072">
            <a:extLst>
              <a:ext uri="{FF2B5EF4-FFF2-40B4-BE49-F238E27FC236}">
                <a16:creationId xmlns:a16="http://schemas.microsoft.com/office/drawing/2014/main" id="{04ED0D74-47FF-4384-B224-7711E00FC3D8}"/>
              </a:ext>
            </a:extLst>
          </p:cNvPr>
          <p:cNvSpPr/>
          <p:nvPr/>
        </p:nvSpPr>
        <p:spPr>
          <a:xfrm rot="10800000">
            <a:off x="5283516" y="3361863"/>
            <a:ext cx="126745" cy="2093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en-US" sz="900" dirty="0"/>
          </a:p>
        </p:txBody>
      </p:sp>
      <p:sp>
        <p:nvSpPr>
          <p:cNvPr id="3075" name="TextBox 3074">
            <a:extLst>
              <a:ext uri="{FF2B5EF4-FFF2-40B4-BE49-F238E27FC236}">
                <a16:creationId xmlns:a16="http://schemas.microsoft.com/office/drawing/2014/main" id="{58DA316B-728B-1C06-5088-0F261CE61969}"/>
              </a:ext>
            </a:extLst>
          </p:cNvPr>
          <p:cNvSpPr txBox="1"/>
          <p:nvPr/>
        </p:nvSpPr>
        <p:spPr>
          <a:xfrm>
            <a:off x="4017317" y="3348141"/>
            <a:ext cx="1089480" cy="230832"/>
          </a:xfrm>
          <a:prstGeom prst="rect">
            <a:avLst/>
          </a:prstGeom>
          <a:noFill/>
        </p:spPr>
        <p:txBody>
          <a:bodyPr wrap="square" rtlCol="0">
            <a:spAutoFit/>
          </a:bodyPr>
          <a:lstStyle/>
          <a:p>
            <a:pPr algn="r"/>
            <a:r>
              <a:rPr lang="en-US" sz="900" dirty="0"/>
              <a:t>blade length:</a:t>
            </a:r>
          </a:p>
        </p:txBody>
      </p:sp>
      <p:pic>
        <p:nvPicPr>
          <p:cNvPr id="3076" name="Picture 3075">
            <a:extLst>
              <a:ext uri="{FF2B5EF4-FFF2-40B4-BE49-F238E27FC236}">
                <a16:creationId xmlns:a16="http://schemas.microsoft.com/office/drawing/2014/main" id="{343B02FF-F493-E069-0261-E9282FA5BE95}"/>
              </a:ext>
            </a:extLst>
          </p:cNvPr>
          <p:cNvPicPr>
            <a:picLocks noChangeAspect="1"/>
          </p:cNvPicPr>
          <p:nvPr/>
        </p:nvPicPr>
        <p:blipFill>
          <a:blip r:embed="rId5"/>
          <a:stretch>
            <a:fillRect/>
          </a:stretch>
        </p:blipFill>
        <p:spPr>
          <a:xfrm>
            <a:off x="7843052" y="1472211"/>
            <a:ext cx="293874" cy="1501138"/>
          </a:xfrm>
          <a:prstGeom prst="rect">
            <a:avLst/>
          </a:prstGeom>
        </p:spPr>
      </p:pic>
      <p:sp>
        <p:nvSpPr>
          <p:cNvPr id="3077" name="Rectangle 3076">
            <a:extLst>
              <a:ext uri="{FF2B5EF4-FFF2-40B4-BE49-F238E27FC236}">
                <a16:creationId xmlns:a16="http://schemas.microsoft.com/office/drawing/2014/main" id="{7B7B5097-4BE6-7391-58E0-DE2F67A4B8CE}"/>
              </a:ext>
            </a:extLst>
          </p:cNvPr>
          <p:cNvSpPr/>
          <p:nvPr/>
        </p:nvSpPr>
        <p:spPr>
          <a:xfrm rot="5400000">
            <a:off x="7061147" y="2329211"/>
            <a:ext cx="2416735"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8" name="Oval 3077">
            <a:extLst>
              <a:ext uri="{FF2B5EF4-FFF2-40B4-BE49-F238E27FC236}">
                <a16:creationId xmlns:a16="http://schemas.microsoft.com/office/drawing/2014/main" id="{F851E672-63C7-1A77-000D-F6122A6F0328}"/>
              </a:ext>
            </a:extLst>
          </p:cNvPr>
          <p:cNvSpPr/>
          <p:nvPr/>
        </p:nvSpPr>
        <p:spPr>
          <a:xfrm rot="5400000">
            <a:off x="8190557" y="2383748"/>
            <a:ext cx="137160" cy="1371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79" name="Straight Connector 3078">
            <a:extLst>
              <a:ext uri="{FF2B5EF4-FFF2-40B4-BE49-F238E27FC236}">
                <a16:creationId xmlns:a16="http://schemas.microsoft.com/office/drawing/2014/main" id="{955F0043-1E29-8C8C-DF3B-FD4D9939B857}"/>
              </a:ext>
            </a:extLst>
          </p:cNvPr>
          <p:cNvCxnSpPr>
            <a:cxnSpLocks/>
          </p:cNvCxnSpPr>
          <p:nvPr/>
        </p:nvCxnSpPr>
        <p:spPr>
          <a:xfrm flipH="1">
            <a:off x="7843052" y="2452164"/>
            <a:ext cx="347505" cy="164"/>
          </a:xfrm>
          <a:prstGeom prst="line">
            <a:avLst/>
          </a:prstGeom>
        </p:spPr>
        <p:style>
          <a:lnRef idx="1">
            <a:schemeClr val="accent1"/>
          </a:lnRef>
          <a:fillRef idx="0">
            <a:schemeClr val="accent1"/>
          </a:fillRef>
          <a:effectRef idx="0">
            <a:schemeClr val="accent1"/>
          </a:effectRef>
          <a:fontRef idx="minor">
            <a:schemeClr val="tx1"/>
          </a:fontRef>
        </p:style>
      </p:cxnSp>
      <p:sp>
        <p:nvSpPr>
          <p:cNvPr id="3081" name="Rounded Rectangle 3080">
            <a:extLst>
              <a:ext uri="{FF2B5EF4-FFF2-40B4-BE49-F238E27FC236}">
                <a16:creationId xmlns:a16="http://schemas.microsoft.com/office/drawing/2014/main" id="{62A6644D-8B37-BF62-3017-F968DF03DC55}"/>
              </a:ext>
            </a:extLst>
          </p:cNvPr>
          <p:cNvSpPr/>
          <p:nvPr/>
        </p:nvSpPr>
        <p:spPr>
          <a:xfrm>
            <a:off x="7823942" y="3103945"/>
            <a:ext cx="126745" cy="2093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en-US" sz="900" dirty="0"/>
          </a:p>
        </p:txBody>
      </p:sp>
      <p:sp>
        <p:nvSpPr>
          <p:cNvPr id="3082" name="Rounded Rectangle 3081">
            <a:extLst>
              <a:ext uri="{FF2B5EF4-FFF2-40B4-BE49-F238E27FC236}">
                <a16:creationId xmlns:a16="http://schemas.microsoft.com/office/drawing/2014/main" id="{60A4CB7D-55CA-67BB-1B44-B92A28C4F185}"/>
              </a:ext>
            </a:extLst>
          </p:cNvPr>
          <p:cNvSpPr/>
          <p:nvPr/>
        </p:nvSpPr>
        <p:spPr>
          <a:xfrm rot="10800000">
            <a:off x="8032314" y="3098910"/>
            <a:ext cx="126745" cy="2093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en-US" sz="900" dirty="0"/>
          </a:p>
        </p:txBody>
      </p:sp>
      <p:sp>
        <p:nvSpPr>
          <p:cNvPr id="3083" name="TextBox 3082">
            <a:extLst>
              <a:ext uri="{FF2B5EF4-FFF2-40B4-BE49-F238E27FC236}">
                <a16:creationId xmlns:a16="http://schemas.microsoft.com/office/drawing/2014/main" id="{E285A217-92C0-ACA7-B129-2C17541514DF}"/>
              </a:ext>
            </a:extLst>
          </p:cNvPr>
          <p:cNvSpPr txBox="1"/>
          <p:nvPr/>
        </p:nvSpPr>
        <p:spPr>
          <a:xfrm>
            <a:off x="7345965" y="3039355"/>
            <a:ext cx="555250" cy="338554"/>
          </a:xfrm>
          <a:prstGeom prst="rect">
            <a:avLst/>
          </a:prstGeom>
          <a:noFill/>
        </p:spPr>
        <p:txBody>
          <a:bodyPr wrap="square" rtlCol="0">
            <a:spAutoFit/>
          </a:bodyPr>
          <a:lstStyle/>
          <a:p>
            <a:pPr algn="r"/>
            <a:r>
              <a:rPr lang="en-US" sz="800" dirty="0"/>
              <a:t>blade </a:t>
            </a:r>
          </a:p>
          <a:p>
            <a:pPr algn="r"/>
            <a:r>
              <a:rPr lang="en-US" sz="800" dirty="0"/>
              <a:t>width:</a:t>
            </a:r>
          </a:p>
        </p:txBody>
      </p:sp>
      <p:sp>
        <p:nvSpPr>
          <p:cNvPr id="3084" name="Rounded Rectangle 3083">
            <a:extLst>
              <a:ext uri="{FF2B5EF4-FFF2-40B4-BE49-F238E27FC236}">
                <a16:creationId xmlns:a16="http://schemas.microsoft.com/office/drawing/2014/main" id="{57C95FAC-E36F-9461-E1E8-1215BCE9A74F}"/>
              </a:ext>
            </a:extLst>
          </p:cNvPr>
          <p:cNvSpPr/>
          <p:nvPr/>
        </p:nvSpPr>
        <p:spPr>
          <a:xfrm>
            <a:off x="7826711" y="3380934"/>
            <a:ext cx="126745" cy="2093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en-US" sz="900" dirty="0"/>
          </a:p>
        </p:txBody>
      </p:sp>
      <p:sp>
        <p:nvSpPr>
          <p:cNvPr id="3085" name="Rounded Rectangle 3084">
            <a:extLst>
              <a:ext uri="{FF2B5EF4-FFF2-40B4-BE49-F238E27FC236}">
                <a16:creationId xmlns:a16="http://schemas.microsoft.com/office/drawing/2014/main" id="{8CA5DAAD-8538-F06D-E5AE-2333900DE9AE}"/>
              </a:ext>
            </a:extLst>
          </p:cNvPr>
          <p:cNvSpPr/>
          <p:nvPr/>
        </p:nvSpPr>
        <p:spPr>
          <a:xfrm rot="10800000">
            <a:off x="8035083" y="3375899"/>
            <a:ext cx="126745" cy="2093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t>
            </a:r>
            <a:endParaRPr lang="en-US" sz="900" dirty="0"/>
          </a:p>
        </p:txBody>
      </p:sp>
      <p:sp>
        <p:nvSpPr>
          <p:cNvPr id="3086" name="TextBox 3085">
            <a:extLst>
              <a:ext uri="{FF2B5EF4-FFF2-40B4-BE49-F238E27FC236}">
                <a16:creationId xmlns:a16="http://schemas.microsoft.com/office/drawing/2014/main" id="{50A72BD9-AA79-94A0-E8E0-89DF2E908BD3}"/>
              </a:ext>
            </a:extLst>
          </p:cNvPr>
          <p:cNvSpPr txBox="1"/>
          <p:nvPr/>
        </p:nvSpPr>
        <p:spPr>
          <a:xfrm>
            <a:off x="7395874" y="3316344"/>
            <a:ext cx="501537" cy="338554"/>
          </a:xfrm>
          <a:prstGeom prst="rect">
            <a:avLst/>
          </a:prstGeom>
          <a:noFill/>
        </p:spPr>
        <p:txBody>
          <a:bodyPr wrap="square" rtlCol="0">
            <a:spAutoFit/>
          </a:bodyPr>
          <a:lstStyle/>
          <a:p>
            <a:pPr algn="r"/>
            <a:r>
              <a:rPr lang="en-US" sz="800" dirty="0"/>
              <a:t>blade </a:t>
            </a:r>
          </a:p>
          <a:p>
            <a:pPr algn="r"/>
            <a:r>
              <a:rPr lang="en-US" sz="800" dirty="0"/>
              <a:t>length:</a:t>
            </a:r>
          </a:p>
        </p:txBody>
      </p:sp>
      <p:sp>
        <p:nvSpPr>
          <p:cNvPr id="3087" name="Rounded Rectangle 3086">
            <a:extLst>
              <a:ext uri="{FF2B5EF4-FFF2-40B4-BE49-F238E27FC236}">
                <a16:creationId xmlns:a16="http://schemas.microsoft.com/office/drawing/2014/main" id="{4AF32A2C-EE21-D0F3-67F8-738C839B94EA}"/>
              </a:ext>
            </a:extLst>
          </p:cNvPr>
          <p:cNvSpPr/>
          <p:nvPr/>
        </p:nvSpPr>
        <p:spPr>
          <a:xfrm>
            <a:off x="3466202" y="3142541"/>
            <a:ext cx="869287" cy="3503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Save section shape</a:t>
            </a:r>
          </a:p>
        </p:txBody>
      </p:sp>
      <p:sp>
        <p:nvSpPr>
          <p:cNvPr id="3088" name="Rounded Rectangle 3087">
            <a:extLst>
              <a:ext uri="{FF2B5EF4-FFF2-40B4-BE49-F238E27FC236}">
                <a16:creationId xmlns:a16="http://schemas.microsoft.com/office/drawing/2014/main" id="{074A89F5-88E7-4EB5-71FB-DA6002174E90}"/>
              </a:ext>
            </a:extLst>
          </p:cNvPr>
          <p:cNvSpPr/>
          <p:nvPr/>
        </p:nvSpPr>
        <p:spPr>
          <a:xfrm>
            <a:off x="6076000" y="3417749"/>
            <a:ext cx="1405271" cy="2348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Save section shape</a:t>
            </a:r>
          </a:p>
        </p:txBody>
      </p:sp>
      <p:sp>
        <p:nvSpPr>
          <p:cNvPr id="3089" name="Rounded Rectangle 3088">
            <a:extLst>
              <a:ext uri="{FF2B5EF4-FFF2-40B4-BE49-F238E27FC236}">
                <a16:creationId xmlns:a16="http://schemas.microsoft.com/office/drawing/2014/main" id="{01782C37-F90A-C219-F8D4-517E4134C6B6}"/>
              </a:ext>
            </a:extLst>
          </p:cNvPr>
          <p:cNvSpPr/>
          <p:nvPr/>
        </p:nvSpPr>
        <p:spPr>
          <a:xfrm>
            <a:off x="4306827" y="1110869"/>
            <a:ext cx="625242"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Pressure</a:t>
            </a:r>
          </a:p>
        </p:txBody>
      </p:sp>
      <p:sp>
        <p:nvSpPr>
          <p:cNvPr id="3090" name="Rounded Rectangle 3089">
            <a:extLst>
              <a:ext uri="{FF2B5EF4-FFF2-40B4-BE49-F238E27FC236}">
                <a16:creationId xmlns:a16="http://schemas.microsoft.com/office/drawing/2014/main" id="{C7D9ECE7-1A81-4064-020C-03CFB4409657}"/>
              </a:ext>
            </a:extLst>
          </p:cNvPr>
          <p:cNvSpPr/>
          <p:nvPr/>
        </p:nvSpPr>
        <p:spPr>
          <a:xfrm>
            <a:off x="5004694" y="1117791"/>
            <a:ext cx="475171" cy="2623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FEA</a:t>
            </a:r>
          </a:p>
        </p:txBody>
      </p:sp>
      <p:cxnSp>
        <p:nvCxnSpPr>
          <p:cNvPr id="3092" name="Straight Arrow Connector 3091">
            <a:extLst>
              <a:ext uri="{FF2B5EF4-FFF2-40B4-BE49-F238E27FC236}">
                <a16:creationId xmlns:a16="http://schemas.microsoft.com/office/drawing/2014/main" id="{3C21AC90-5456-EA24-1474-8AE5214AB45B}"/>
              </a:ext>
            </a:extLst>
          </p:cNvPr>
          <p:cNvCxnSpPr>
            <a:cxnSpLocks/>
          </p:cNvCxnSpPr>
          <p:nvPr/>
        </p:nvCxnSpPr>
        <p:spPr>
          <a:xfrm>
            <a:off x="2130553" y="1819846"/>
            <a:ext cx="0" cy="252051"/>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093" name="Straight Arrow Connector 3092">
            <a:extLst>
              <a:ext uri="{FF2B5EF4-FFF2-40B4-BE49-F238E27FC236}">
                <a16:creationId xmlns:a16="http://schemas.microsoft.com/office/drawing/2014/main" id="{4272B94F-DA73-39BC-D0F9-6896168EFD9A}"/>
              </a:ext>
            </a:extLst>
          </p:cNvPr>
          <p:cNvCxnSpPr>
            <a:cxnSpLocks/>
          </p:cNvCxnSpPr>
          <p:nvPr/>
        </p:nvCxnSpPr>
        <p:spPr>
          <a:xfrm>
            <a:off x="2423160" y="1708330"/>
            <a:ext cx="0" cy="237918"/>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094" name="Straight Arrow Connector 3093">
            <a:extLst>
              <a:ext uri="{FF2B5EF4-FFF2-40B4-BE49-F238E27FC236}">
                <a16:creationId xmlns:a16="http://schemas.microsoft.com/office/drawing/2014/main" id="{D0214D31-0C9A-49A7-C09C-91B6E1798098}"/>
              </a:ext>
            </a:extLst>
          </p:cNvPr>
          <p:cNvCxnSpPr>
            <a:cxnSpLocks/>
          </p:cNvCxnSpPr>
          <p:nvPr/>
        </p:nvCxnSpPr>
        <p:spPr>
          <a:xfrm>
            <a:off x="2660904" y="1708330"/>
            <a:ext cx="0" cy="214085"/>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095" name="Straight Arrow Connector 3094">
            <a:extLst>
              <a:ext uri="{FF2B5EF4-FFF2-40B4-BE49-F238E27FC236}">
                <a16:creationId xmlns:a16="http://schemas.microsoft.com/office/drawing/2014/main" id="{CFC0E8BB-123D-8481-A164-B79E7F5CADBA}"/>
              </a:ext>
            </a:extLst>
          </p:cNvPr>
          <p:cNvCxnSpPr>
            <a:cxnSpLocks/>
          </p:cNvCxnSpPr>
          <p:nvPr/>
        </p:nvCxnSpPr>
        <p:spPr>
          <a:xfrm>
            <a:off x="2971001" y="1708330"/>
            <a:ext cx="0" cy="237918"/>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096" name="Straight Arrow Connector 3095">
            <a:extLst>
              <a:ext uri="{FF2B5EF4-FFF2-40B4-BE49-F238E27FC236}">
                <a16:creationId xmlns:a16="http://schemas.microsoft.com/office/drawing/2014/main" id="{0398F32E-771E-3FE5-9902-E9E671D392CC}"/>
              </a:ext>
            </a:extLst>
          </p:cNvPr>
          <p:cNvCxnSpPr>
            <a:cxnSpLocks/>
          </p:cNvCxnSpPr>
          <p:nvPr/>
        </p:nvCxnSpPr>
        <p:spPr>
          <a:xfrm>
            <a:off x="3233776" y="1768565"/>
            <a:ext cx="0" cy="246888"/>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097" name="Straight Arrow Connector 3096">
            <a:extLst>
              <a:ext uri="{FF2B5EF4-FFF2-40B4-BE49-F238E27FC236}">
                <a16:creationId xmlns:a16="http://schemas.microsoft.com/office/drawing/2014/main" id="{CABE836C-C1AC-0789-D240-0A8D15DFBC80}"/>
              </a:ext>
            </a:extLst>
          </p:cNvPr>
          <p:cNvCxnSpPr>
            <a:cxnSpLocks/>
          </p:cNvCxnSpPr>
          <p:nvPr/>
        </p:nvCxnSpPr>
        <p:spPr>
          <a:xfrm>
            <a:off x="3492036" y="1819846"/>
            <a:ext cx="0" cy="261084"/>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098" name="Straight Arrow Connector 3097">
            <a:extLst>
              <a:ext uri="{FF2B5EF4-FFF2-40B4-BE49-F238E27FC236}">
                <a16:creationId xmlns:a16="http://schemas.microsoft.com/office/drawing/2014/main" id="{039FAE23-0CCB-5594-6C25-3408149C1887}"/>
              </a:ext>
            </a:extLst>
          </p:cNvPr>
          <p:cNvCxnSpPr>
            <a:cxnSpLocks/>
          </p:cNvCxnSpPr>
          <p:nvPr/>
        </p:nvCxnSpPr>
        <p:spPr>
          <a:xfrm>
            <a:off x="3755136" y="1898161"/>
            <a:ext cx="0" cy="23834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3109" name="Picture 3108" descr="A green light on a pole&#10;&#10;AI-generated content may be incorrect.">
            <a:extLst>
              <a:ext uri="{FF2B5EF4-FFF2-40B4-BE49-F238E27FC236}">
                <a16:creationId xmlns:a16="http://schemas.microsoft.com/office/drawing/2014/main" id="{F3C853A7-B93F-71D4-C0A3-97F8E9E6AC1C}"/>
              </a:ext>
            </a:extLst>
          </p:cNvPr>
          <p:cNvPicPr>
            <a:picLocks noChangeAspect="1"/>
          </p:cNvPicPr>
          <p:nvPr/>
        </p:nvPicPr>
        <p:blipFill>
          <a:blip r:embed="rId6"/>
          <a:stretch>
            <a:fillRect/>
          </a:stretch>
        </p:blipFill>
        <p:spPr>
          <a:xfrm>
            <a:off x="694483" y="1705601"/>
            <a:ext cx="595623" cy="1292937"/>
          </a:xfrm>
          <a:prstGeom prst="rect">
            <a:avLst/>
          </a:prstGeom>
        </p:spPr>
      </p:pic>
      <p:cxnSp>
        <p:nvCxnSpPr>
          <p:cNvPr id="3110" name="Straight Arrow Connector 3109">
            <a:extLst>
              <a:ext uri="{FF2B5EF4-FFF2-40B4-BE49-F238E27FC236}">
                <a16:creationId xmlns:a16="http://schemas.microsoft.com/office/drawing/2014/main" id="{12733A30-AABB-4797-B5FF-94C963589981}"/>
              </a:ext>
            </a:extLst>
          </p:cNvPr>
          <p:cNvCxnSpPr>
            <a:cxnSpLocks/>
          </p:cNvCxnSpPr>
          <p:nvPr/>
        </p:nvCxnSpPr>
        <p:spPr>
          <a:xfrm>
            <a:off x="6483295" y="1510634"/>
            <a:ext cx="0" cy="252051"/>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111" name="Straight Arrow Connector 3110">
            <a:extLst>
              <a:ext uri="{FF2B5EF4-FFF2-40B4-BE49-F238E27FC236}">
                <a16:creationId xmlns:a16="http://schemas.microsoft.com/office/drawing/2014/main" id="{D385B2DC-D4B6-076B-71BB-DE1DD1B86C59}"/>
              </a:ext>
            </a:extLst>
          </p:cNvPr>
          <p:cNvCxnSpPr>
            <a:cxnSpLocks/>
          </p:cNvCxnSpPr>
          <p:nvPr/>
        </p:nvCxnSpPr>
        <p:spPr>
          <a:xfrm>
            <a:off x="6625971" y="1467683"/>
            <a:ext cx="0" cy="237918"/>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112" name="Straight Arrow Connector 3111">
            <a:extLst>
              <a:ext uri="{FF2B5EF4-FFF2-40B4-BE49-F238E27FC236}">
                <a16:creationId xmlns:a16="http://schemas.microsoft.com/office/drawing/2014/main" id="{5D209030-CAE3-2839-F4CC-7647488D1D28}"/>
              </a:ext>
            </a:extLst>
          </p:cNvPr>
          <p:cNvCxnSpPr>
            <a:cxnSpLocks/>
          </p:cNvCxnSpPr>
          <p:nvPr/>
        </p:nvCxnSpPr>
        <p:spPr>
          <a:xfrm>
            <a:off x="6778635" y="1480027"/>
            <a:ext cx="0" cy="214085"/>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113" name="Straight Arrow Connector 3112">
            <a:extLst>
              <a:ext uri="{FF2B5EF4-FFF2-40B4-BE49-F238E27FC236}">
                <a16:creationId xmlns:a16="http://schemas.microsoft.com/office/drawing/2014/main" id="{C81CFEC2-2F27-07C4-3EE0-CC9BEDD0D57A}"/>
              </a:ext>
            </a:extLst>
          </p:cNvPr>
          <p:cNvCxnSpPr>
            <a:cxnSpLocks/>
          </p:cNvCxnSpPr>
          <p:nvPr/>
        </p:nvCxnSpPr>
        <p:spPr>
          <a:xfrm>
            <a:off x="6910993" y="1480252"/>
            <a:ext cx="0" cy="237918"/>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114" name="Straight Arrow Connector 3113">
            <a:extLst>
              <a:ext uri="{FF2B5EF4-FFF2-40B4-BE49-F238E27FC236}">
                <a16:creationId xmlns:a16="http://schemas.microsoft.com/office/drawing/2014/main" id="{166371F8-3C83-DB1D-2E55-13DF3D169AEA}"/>
              </a:ext>
            </a:extLst>
          </p:cNvPr>
          <p:cNvCxnSpPr>
            <a:cxnSpLocks/>
          </p:cNvCxnSpPr>
          <p:nvPr/>
        </p:nvCxnSpPr>
        <p:spPr>
          <a:xfrm>
            <a:off x="7056293" y="1510634"/>
            <a:ext cx="0" cy="246888"/>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115" name="Straight Arrow Connector 3114">
            <a:extLst>
              <a:ext uri="{FF2B5EF4-FFF2-40B4-BE49-F238E27FC236}">
                <a16:creationId xmlns:a16="http://schemas.microsoft.com/office/drawing/2014/main" id="{7DEDCF75-E80E-ECCC-1168-9D5396B35DCA}"/>
              </a:ext>
            </a:extLst>
          </p:cNvPr>
          <p:cNvCxnSpPr>
            <a:cxnSpLocks/>
          </p:cNvCxnSpPr>
          <p:nvPr/>
        </p:nvCxnSpPr>
        <p:spPr>
          <a:xfrm>
            <a:off x="7197078" y="1542488"/>
            <a:ext cx="0" cy="261084"/>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3116" name="Straight Arrow Connector 3115">
            <a:extLst>
              <a:ext uri="{FF2B5EF4-FFF2-40B4-BE49-F238E27FC236}">
                <a16:creationId xmlns:a16="http://schemas.microsoft.com/office/drawing/2014/main" id="{D9707425-68B8-D4D0-6CB6-935FF406A315}"/>
              </a:ext>
            </a:extLst>
          </p:cNvPr>
          <p:cNvCxnSpPr>
            <a:cxnSpLocks/>
          </p:cNvCxnSpPr>
          <p:nvPr/>
        </p:nvCxnSpPr>
        <p:spPr>
          <a:xfrm>
            <a:off x="7315200" y="1588949"/>
            <a:ext cx="0" cy="23834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93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48640" y="411480"/>
            <a:ext cx="411480" cy="411480"/>
          </a:xfrm>
          <a:prstGeom prst="rect">
            <a:avLst/>
          </a:prstGeom>
        </p:spPr>
      </p:pic>
      <p:sp>
        <p:nvSpPr>
          <p:cNvPr id="3" name="Text 0"/>
          <p:cNvSpPr/>
          <p:nvPr/>
        </p:nvSpPr>
        <p:spPr>
          <a:xfrm>
            <a:off x="1051560" y="320040"/>
            <a:ext cx="7315200" cy="5943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Shared Patterns &amp; Conventions</a:t>
            </a:r>
            <a:endParaRPr lang="en-US" sz="3200" dirty="0"/>
          </a:p>
        </p:txBody>
      </p:sp>
      <p:sp>
        <p:nvSpPr>
          <p:cNvPr id="4" name="Text 1"/>
          <p:cNvSpPr/>
          <p:nvPr/>
        </p:nvSpPr>
        <p:spPr>
          <a:xfrm>
            <a:off x="548640" y="960120"/>
            <a:ext cx="7772400" cy="365760"/>
          </a:xfrm>
          <a:prstGeom prst="rect">
            <a:avLst/>
          </a:prstGeom>
          <a:noFill/>
          <a:ln/>
        </p:spPr>
        <p:txBody>
          <a:bodyPr wrap="square" lIns="0" tIns="0" rIns="0" bIns="0" rtlCol="0" anchor="ctr"/>
          <a:lstStyle/>
          <a:p>
            <a:pPr marL="0" indent="0">
              <a:buNone/>
            </a:pPr>
            <a:r>
              <a:rPr lang="en-US" sz="1300" i="1" dirty="0">
                <a:solidFill>
                  <a:srgbClr val="CBD5E1"/>
                </a:solidFill>
                <a:latin typeface="Calibri" pitchFamily="34" charset="0"/>
                <a:ea typeface="Calibri" pitchFamily="34" charset="-122"/>
                <a:cs typeface="Calibri" pitchFamily="34" charset="-120"/>
              </a:rPr>
              <a:t>Document global decisions so Claude Code doesn't reinvent them.</a:t>
            </a:r>
            <a:endParaRPr lang="en-US" sz="1300" dirty="0"/>
          </a:p>
        </p:txBody>
      </p:sp>
      <p:sp>
        <p:nvSpPr>
          <p:cNvPr id="5" name="Shape 2"/>
          <p:cNvSpPr/>
          <p:nvPr/>
        </p:nvSpPr>
        <p:spPr>
          <a:xfrm>
            <a:off x="548640" y="1463040"/>
            <a:ext cx="3840480" cy="14630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6" name="Shape 3"/>
          <p:cNvSpPr/>
          <p:nvPr/>
        </p:nvSpPr>
        <p:spPr>
          <a:xfrm>
            <a:off x="548640" y="1463040"/>
            <a:ext cx="54864" cy="1463040"/>
          </a:xfrm>
          <a:prstGeom prst="rect">
            <a:avLst/>
          </a:prstGeom>
          <a:solidFill>
            <a:srgbClr val="0D9488"/>
          </a:solidFill>
          <a:ln/>
        </p:spPr>
        <p:txBody>
          <a:bodyPr/>
          <a:lstStyle/>
          <a:p>
            <a:endParaRPr lang="en-US"/>
          </a:p>
        </p:txBody>
      </p:sp>
      <p:sp>
        <p:nvSpPr>
          <p:cNvPr id="7" name="Text 4"/>
          <p:cNvSpPr/>
          <p:nvPr/>
        </p:nvSpPr>
        <p:spPr>
          <a:xfrm>
            <a:off x="777240" y="1554480"/>
            <a:ext cx="3474720" cy="27432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Navigation &amp; Routing</a:t>
            </a:r>
            <a:endParaRPr lang="en-US" sz="1400" dirty="0"/>
          </a:p>
        </p:txBody>
      </p:sp>
      <p:sp>
        <p:nvSpPr>
          <p:cNvPr id="8" name="Text 5"/>
          <p:cNvSpPr/>
          <p:nvPr/>
        </p:nvSpPr>
        <p:spPr>
          <a:xfrm>
            <a:off x="777240" y="1874520"/>
            <a:ext cx="3474720" cy="91440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cs typeface="Calibri" pitchFamily="34" charset="-120"/>
              </a:rPr>
              <a:t>Routing buttons will have subtle arrow shapes.</a:t>
            </a:r>
            <a:endParaRPr lang="en-US" sz="1100" dirty="0"/>
          </a:p>
        </p:txBody>
      </p:sp>
      <p:sp>
        <p:nvSpPr>
          <p:cNvPr id="9" name="Shape 6"/>
          <p:cNvSpPr/>
          <p:nvPr/>
        </p:nvSpPr>
        <p:spPr>
          <a:xfrm>
            <a:off x="4754880" y="1463040"/>
            <a:ext cx="3840480" cy="14630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0" name="Shape 7"/>
          <p:cNvSpPr/>
          <p:nvPr/>
        </p:nvSpPr>
        <p:spPr>
          <a:xfrm>
            <a:off x="4754880" y="1463040"/>
            <a:ext cx="54864" cy="1463040"/>
          </a:xfrm>
          <a:prstGeom prst="rect">
            <a:avLst/>
          </a:prstGeom>
          <a:solidFill>
            <a:srgbClr val="0D9488"/>
          </a:solidFill>
          <a:ln/>
        </p:spPr>
        <p:txBody>
          <a:bodyPr/>
          <a:lstStyle/>
          <a:p>
            <a:endParaRPr lang="en-US"/>
          </a:p>
        </p:txBody>
      </p:sp>
      <p:sp>
        <p:nvSpPr>
          <p:cNvPr id="11" name="Text 8"/>
          <p:cNvSpPr/>
          <p:nvPr/>
        </p:nvSpPr>
        <p:spPr>
          <a:xfrm>
            <a:off x="4983480" y="1554480"/>
            <a:ext cx="3474720" cy="27432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API Response Format</a:t>
            </a:r>
            <a:endParaRPr lang="en-US" sz="1400" dirty="0"/>
          </a:p>
        </p:txBody>
      </p:sp>
      <p:sp>
        <p:nvSpPr>
          <p:cNvPr id="12" name="Text 9"/>
          <p:cNvSpPr/>
          <p:nvPr/>
        </p:nvSpPr>
        <p:spPr>
          <a:xfrm>
            <a:off x="4983480" y="1874520"/>
            <a:ext cx="3474720" cy="91440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ea typeface="Calibri" pitchFamily="34" charset="-122"/>
                <a:cs typeface="Calibri" pitchFamily="34" charset="-120"/>
              </a:rPr>
              <a:t>API responds with JSON. </a:t>
            </a:r>
            <a:endParaRPr lang="en-US" sz="1100" dirty="0"/>
          </a:p>
        </p:txBody>
      </p:sp>
      <p:sp>
        <p:nvSpPr>
          <p:cNvPr id="13" name="Shape 10"/>
          <p:cNvSpPr/>
          <p:nvPr/>
        </p:nvSpPr>
        <p:spPr>
          <a:xfrm>
            <a:off x="548640" y="3154680"/>
            <a:ext cx="3840480" cy="14630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4" name="Shape 11"/>
          <p:cNvSpPr/>
          <p:nvPr/>
        </p:nvSpPr>
        <p:spPr>
          <a:xfrm>
            <a:off x="548640" y="3154680"/>
            <a:ext cx="54864" cy="1463040"/>
          </a:xfrm>
          <a:prstGeom prst="rect">
            <a:avLst/>
          </a:prstGeom>
          <a:solidFill>
            <a:srgbClr val="0D9488"/>
          </a:solidFill>
          <a:ln/>
        </p:spPr>
        <p:txBody>
          <a:bodyPr/>
          <a:lstStyle/>
          <a:p>
            <a:endParaRPr lang="en-US"/>
          </a:p>
        </p:txBody>
      </p:sp>
      <p:sp>
        <p:nvSpPr>
          <p:cNvPr id="15" name="Text 12"/>
          <p:cNvSpPr/>
          <p:nvPr/>
        </p:nvSpPr>
        <p:spPr>
          <a:xfrm>
            <a:off x="777240" y="3246120"/>
            <a:ext cx="3474720" cy="27432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UI Components &amp; Styling</a:t>
            </a:r>
            <a:endParaRPr lang="en-US" sz="1400" dirty="0"/>
          </a:p>
        </p:txBody>
      </p:sp>
      <p:sp>
        <p:nvSpPr>
          <p:cNvPr id="16" name="Text 13"/>
          <p:cNvSpPr/>
          <p:nvPr/>
        </p:nvSpPr>
        <p:spPr>
          <a:xfrm>
            <a:off x="777240" y="3566160"/>
            <a:ext cx="3474720" cy="91440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cs typeface="Calibri" pitchFamily="34" charset="-120"/>
              </a:rPr>
              <a:t>The UI should be OK for colorblind people. The styles can hopefully be modelled after the latest iOS UI.</a:t>
            </a:r>
            <a:endParaRPr lang="en-US" sz="1100" dirty="0"/>
          </a:p>
        </p:txBody>
      </p:sp>
      <p:sp>
        <p:nvSpPr>
          <p:cNvPr id="17" name="Shape 14"/>
          <p:cNvSpPr/>
          <p:nvPr/>
        </p:nvSpPr>
        <p:spPr>
          <a:xfrm>
            <a:off x="4754880" y="3154680"/>
            <a:ext cx="3840480" cy="1463040"/>
          </a:xfrm>
          <a:prstGeom prst="rect">
            <a:avLst/>
          </a:prstGeom>
          <a:solidFill>
            <a:srgbClr val="334155"/>
          </a:solidFill>
          <a:ln/>
          <a:effectLst>
            <a:outerShdw blurRad="50800" dist="12700" dir="8100000" algn="bl" rotWithShape="0">
              <a:srgbClr val="000000">
                <a:alpha val="8000"/>
              </a:srgbClr>
            </a:outerShdw>
          </a:effectLst>
        </p:spPr>
        <p:txBody>
          <a:bodyPr/>
          <a:lstStyle/>
          <a:p>
            <a:endParaRPr lang="en-US"/>
          </a:p>
        </p:txBody>
      </p:sp>
      <p:sp>
        <p:nvSpPr>
          <p:cNvPr id="18" name="Shape 15"/>
          <p:cNvSpPr/>
          <p:nvPr/>
        </p:nvSpPr>
        <p:spPr>
          <a:xfrm>
            <a:off x="4754880" y="3154680"/>
            <a:ext cx="54864" cy="1463040"/>
          </a:xfrm>
          <a:prstGeom prst="rect">
            <a:avLst/>
          </a:prstGeom>
          <a:solidFill>
            <a:srgbClr val="0D9488"/>
          </a:solidFill>
          <a:ln/>
        </p:spPr>
        <p:txBody>
          <a:bodyPr/>
          <a:lstStyle/>
          <a:p>
            <a:endParaRPr lang="en-US"/>
          </a:p>
        </p:txBody>
      </p:sp>
      <p:sp>
        <p:nvSpPr>
          <p:cNvPr id="19" name="Text 16"/>
          <p:cNvSpPr/>
          <p:nvPr/>
        </p:nvSpPr>
        <p:spPr>
          <a:xfrm>
            <a:off x="4983480" y="3246120"/>
            <a:ext cx="3474720" cy="274320"/>
          </a:xfrm>
          <a:prstGeom prst="rect">
            <a:avLst/>
          </a:prstGeom>
          <a:noFill/>
          <a:ln/>
        </p:spPr>
        <p:txBody>
          <a:bodyPr wrap="square" lIns="0" tIns="0" rIns="0" bIns="0" rtlCol="0" anchor="ctr"/>
          <a:lstStyle/>
          <a:p>
            <a:pPr marL="0" indent="0">
              <a:buNone/>
            </a:pPr>
            <a:r>
              <a:rPr lang="en-US" sz="1400" b="1" dirty="0">
                <a:solidFill>
                  <a:srgbClr val="0D9488"/>
                </a:solidFill>
                <a:latin typeface="Trebuchet MS" pitchFamily="34" charset="0"/>
                <a:ea typeface="Trebuchet MS" pitchFamily="34" charset="-122"/>
                <a:cs typeface="Trebuchet MS" pitchFamily="34" charset="-120"/>
              </a:rPr>
              <a:t>Content &amp; Animations</a:t>
            </a:r>
            <a:endParaRPr lang="en-US" sz="1400" dirty="0"/>
          </a:p>
        </p:txBody>
      </p:sp>
      <p:sp>
        <p:nvSpPr>
          <p:cNvPr id="20" name="Text 17"/>
          <p:cNvSpPr/>
          <p:nvPr/>
        </p:nvSpPr>
        <p:spPr>
          <a:xfrm>
            <a:off x="4983480" y="3566160"/>
            <a:ext cx="3474720" cy="914400"/>
          </a:xfrm>
          <a:prstGeom prst="rect">
            <a:avLst/>
          </a:prstGeom>
          <a:noFill/>
          <a:ln/>
        </p:spPr>
        <p:txBody>
          <a:bodyPr wrap="square" lIns="0" tIns="0" rIns="0" bIns="0" rtlCol="0" anchor="t"/>
          <a:lstStyle/>
          <a:p>
            <a:pPr marL="0" indent="0">
              <a:buNone/>
            </a:pPr>
            <a:r>
              <a:rPr lang="en-US" sz="1100" i="1" dirty="0">
                <a:solidFill>
                  <a:srgbClr val="CBD5E1"/>
                </a:solidFill>
                <a:latin typeface="Calibri" pitchFamily="34" charset="0"/>
                <a:ea typeface="Calibri" pitchFamily="34" charset="-122"/>
                <a:cs typeface="Calibri" pitchFamily="34" charset="-120"/>
              </a:rPr>
              <a:t>The ‘Individual Stories’ feature should mimic the user action of Instagram stories. The app is small enough that static assets can be used. </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1360</TotalTime>
  <Words>1208</Words>
  <Application>Microsoft Macintosh PowerPoint</Application>
  <PresentationFormat>On-screen Show (16:9)</PresentationFormat>
  <Paragraphs>189</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 Wireframe Documentation for Claude Code</dc:title>
  <dc:subject>PptxGenJS Presentation</dc:subject>
  <dc:creator>Wireframe Template</dc:creator>
  <cp:lastModifiedBy>Matthew Zupan</cp:lastModifiedBy>
  <cp:revision>8</cp:revision>
  <dcterms:created xsi:type="dcterms:W3CDTF">2026-02-18T02:46:59Z</dcterms:created>
  <dcterms:modified xsi:type="dcterms:W3CDTF">2026-02-19T01:29:29Z</dcterms:modified>
</cp:coreProperties>
</file>